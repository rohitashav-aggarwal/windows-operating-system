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1" r:id="rId1"/>
  </p:sldMasterIdLst>
  <p:notesMasterIdLst>
    <p:notesMasterId r:id="rId97"/>
  </p:notesMasterIdLst>
  <p:sldIdLst>
    <p:sldId id="257" r:id="rId2"/>
    <p:sldId id="328" r:id="rId3"/>
    <p:sldId id="366" r:id="rId4"/>
    <p:sldId id="258" r:id="rId5"/>
    <p:sldId id="368" r:id="rId6"/>
    <p:sldId id="369" r:id="rId7"/>
    <p:sldId id="371" r:id="rId8"/>
    <p:sldId id="372" r:id="rId9"/>
    <p:sldId id="374" r:id="rId10"/>
    <p:sldId id="373" r:id="rId11"/>
    <p:sldId id="376" r:id="rId12"/>
    <p:sldId id="377" r:id="rId13"/>
    <p:sldId id="380" r:id="rId14"/>
    <p:sldId id="379" r:id="rId15"/>
    <p:sldId id="378" r:id="rId16"/>
    <p:sldId id="381" r:id="rId17"/>
    <p:sldId id="383" r:id="rId18"/>
    <p:sldId id="385" r:id="rId19"/>
    <p:sldId id="388" r:id="rId20"/>
    <p:sldId id="389" r:id="rId21"/>
    <p:sldId id="390" r:id="rId22"/>
    <p:sldId id="424" r:id="rId23"/>
    <p:sldId id="427" r:id="rId24"/>
    <p:sldId id="428" r:id="rId25"/>
    <p:sldId id="392" r:id="rId26"/>
    <p:sldId id="396" r:id="rId27"/>
    <p:sldId id="393" r:id="rId28"/>
    <p:sldId id="544" r:id="rId29"/>
    <p:sldId id="394" r:id="rId30"/>
    <p:sldId id="399" r:id="rId31"/>
    <p:sldId id="400" r:id="rId32"/>
    <p:sldId id="405" r:id="rId33"/>
    <p:sldId id="404" r:id="rId34"/>
    <p:sldId id="406" r:id="rId35"/>
    <p:sldId id="429" r:id="rId36"/>
    <p:sldId id="408" r:id="rId37"/>
    <p:sldId id="409" r:id="rId38"/>
    <p:sldId id="410" r:id="rId39"/>
    <p:sldId id="411" r:id="rId40"/>
    <p:sldId id="412" r:id="rId41"/>
    <p:sldId id="413" r:id="rId42"/>
    <p:sldId id="414" r:id="rId43"/>
    <p:sldId id="416" r:id="rId44"/>
    <p:sldId id="420" r:id="rId45"/>
    <p:sldId id="432" r:id="rId46"/>
    <p:sldId id="433" r:id="rId47"/>
    <p:sldId id="430" r:id="rId48"/>
    <p:sldId id="431" r:id="rId49"/>
    <p:sldId id="435" r:id="rId50"/>
    <p:sldId id="436" r:id="rId51"/>
    <p:sldId id="438" r:id="rId52"/>
    <p:sldId id="439" r:id="rId53"/>
    <p:sldId id="441" r:id="rId54"/>
    <p:sldId id="446" r:id="rId55"/>
    <p:sldId id="451" r:id="rId56"/>
    <p:sldId id="452" r:id="rId57"/>
    <p:sldId id="453" r:id="rId58"/>
    <p:sldId id="545" r:id="rId59"/>
    <p:sldId id="454" r:id="rId60"/>
    <p:sldId id="456" r:id="rId61"/>
    <p:sldId id="457" r:id="rId62"/>
    <p:sldId id="461" r:id="rId63"/>
    <p:sldId id="462" r:id="rId64"/>
    <p:sldId id="463" r:id="rId65"/>
    <p:sldId id="464" r:id="rId66"/>
    <p:sldId id="466" r:id="rId67"/>
    <p:sldId id="541" r:id="rId68"/>
    <p:sldId id="471" r:id="rId69"/>
    <p:sldId id="546" r:id="rId70"/>
    <p:sldId id="473" r:id="rId71"/>
    <p:sldId id="475" r:id="rId72"/>
    <p:sldId id="477" r:id="rId73"/>
    <p:sldId id="479" r:id="rId74"/>
    <p:sldId id="540" r:id="rId75"/>
    <p:sldId id="480" r:id="rId76"/>
    <p:sldId id="547" r:id="rId77"/>
    <p:sldId id="481" r:id="rId78"/>
    <p:sldId id="483" r:id="rId79"/>
    <p:sldId id="484" r:id="rId80"/>
    <p:sldId id="548" r:id="rId81"/>
    <p:sldId id="485" r:id="rId82"/>
    <p:sldId id="487" r:id="rId83"/>
    <p:sldId id="488" r:id="rId84"/>
    <p:sldId id="549" r:id="rId85"/>
    <p:sldId id="489" r:id="rId86"/>
    <p:sldId id="490" r:id="rId87"/>
    <p:sldId id="494" r:id="rId88"/>
    <p:sldId id="498" r:id="rId89"/>
    <p:sldId id="499" r:id="rId90"/>
    <p:sldId id="542" r:id="rId91"/>
    <p:sldId id="550" r:id="rId92"/>
    <p:sldId id="500" r:id="rId93"/>
    <p:sldId id="501" r:id="rId94"/>
    <p:sldId id="551" r:id="rId95"/>
    <p:sldId id="543" r:id="rId96"/>
  </p:sldIdLst>
  <p:sldSz cx="9144000" cy="6858000" type="screen4x3"/>
  <p:notesSz cx="6858000" cy="9144000"/>
  <p:custDataLst>
    <p:tags r:id="rId98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2462" autoAdjust="0"/>
    <p:restoredTop sz="86409"/>
  </p:normalViewPr>
  <p:slideViewPr>
    <p:cSldViewPr snapToGrid="0" snapToObjects="1">
      <p:cViewPr varScale="1">
        <p:scale>
          <a:sx n="79" d="100"/>
          <a:sy n="79" d="100"/>
        </p:scale>
        <p:origin x="1258" y="77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-26056"/>
    </p:cViewPr>
  </p:outlin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76" Type="http://schemas.openxmlformats.org/officeDocument/2006/relationships/slide" Target="slides/slide75.xml"/><Relationship Id="rId84" Type="http://schemas.openxmlformats.org/officeDocument/2006/relationships/slide" Target="slides/slide83.xml"/><Relationship Id="rId89" Type="http://schemas.openxmlformats.org/officeDocument/2006/relationships/slide" Target="slides/slide88.xml"/><Relationship Id="rId97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92" Type="http://schemas.openxmlformats.org/officeDocument/2006/relationships/slide" Target="slides/slide9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slide" Target="slides/slide65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87" Type="http://schemas.openxmlformats.org/officeDocument/2006/relationships/slide" Target="slides/slide86.xml"/><Relationship Id="rId102" Type="http://schemas.openxmlformats.org/officeDocument/2006/relationships/tableStyles" Target="tableStyles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90" Type="http://schemas.openxmlformats.org/officeDocument/2006/relationships/slide" Target="slides/slide89.xml"/><Relationship Id="rId95" Type="http://schemas.openxmlformats.org/officeDocument/2006/relationships/slide" Target="slides/slide94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77" Type="http://schemas.openxmlformats.org/officeDocument/2006/relationships/slide" Target="slides/slide76.xml"/><Relationship Id="rId100" Type="http://schemas.openxmlformats.org/officeDocument/2006/relationships/viewProps" Target="viewProp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80" Type="http://schemas.openxmlformats.org/officeDocument/2006/relationships/slide" Target="slides/slide79.xml"/><Relationship Id="rId85" Type="http://schemas.openxmlformats.org/officeDocument/2006/relationships/slide" Target="slides/slide84.xml"/><Relationship Id="rId93" Type="http://schemas.openxmlformats.org/officeDocument/2006/relationships/slide" Target="slides/slide92.xml"/><Relationship Id="rId98" Type="http://schemas.openxmlformats.org/officeDocument/2006/relationships/tags" Target="tags/tag1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83" Type="http://schemas.openxmlformats.org/officeDocument/2006/relationships/slide" Target="slides/slide82.xml"/><Relationship Id="rId88" Type="http://schemas.openxmlformats.org/officeDocument/2006/relationships/slide" Target="slides/slide87.xml"/><Relationship Id="rId91" Type="http://schemas.openxmlformats.org/officeDocument/2006/relationships/slide" Target="slides/slide90.xml"/><Relationship Id="rId96" Type="http://schemas.openxmlformats.org/officeDocument/2006/relationships/slide" Target="slides/slide95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81" Type="http://schemas.openxmlformats.org/officeDocument/2006/relationships/slide" Target="slides/slide80.xml"/><Relationship Id="rId86" Type="http://schemas.openxmlformats.org/officeDocument/2006/relationships/slide" Target="slides/slide85.xml"/><Relationship Id="rId94" Type="http://schemas.openxmlformats.org/officeDocument/2006/relationships/slide" Target="slides/slide93.xml"/><Relationship Id="rId99" Type="http://schemas.openxmlformats.org/officeDocument/2006/relationships/presProps" Target="presProps.xml"/><Relationship Id="rId10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D5BC7DC-183D-F34F-BF11-B1016F8CB695}" type="datetimeFigureOut">
              <a:rPr lang="en-US" smtClean="0"/>
              <a:t>10/7/2019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D1823E8-1A84-FA45-9C5F-FAFE5779EDB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146378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D1823E8-1A84-FA45-9C5F-FAFE5779EDB3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739974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D1823E8-1A84-FA45-9C5F-FAFE5779EDB3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739974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Wi-Fi Standards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91E39655-1142-4F1C-819C-1F572D7E4126}" type="slidenum">
              <a:rPr lang="en-US" smtClean="0"/>
              <a:pPr>
                <a:defRPr/>
              </a:pPr>
              <a:t>35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2430939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D1823E8-1A84-FA45-9C5F-FAFE5779EDB3}" type="slidenum">
              <a:rPr lang="en-US" smtClean="0"/>
              <a:t>66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662793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182" r="17753"/>
          <a:stretch/>
        </p:blipFill>
        <p:spPr>
          <a:xfrm>
            <a:off x="681889" y="127000"/>
            <a:ext cx="3147646" cy="6350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454769" y="1320800"/>
            <a:ext cx="4353169" cy="2980352"/>
          </a:xfrm>
          <a:prstGeom prst="rect">
            <a:avLst/>
          </a:prstGeom>
        </p:spPr>
        <p:txBody>
          <a:bodyPr/>
          <a:lstStyle>
            <a:lvl1pPr algn="l">
              <a:defRPr sz="4800" baseline="0">
                <a:solidFill>
                  <a:srgbClr val="005EB8"/>
                </a:solidFill>
                <a:latin typeface="Titillium Lt" panose="00000400000000000000" pitchFamily="50" charset="0"/>
              </a:defRPr>
            </a:lvl1pPr>
          </a:lstStyle>
          <a:p>
            <a:r>
              <a:rPr lang="en-US" noProof="0"/>
              <a:t>Click to edit Master title style</a:t>
            </a:r>
            <a:endParaRPr lang="en-CA" noProof="0" dirty="0"/>
          </a:p>
        </p:txBody>
      </p:sp>
      <p:sp>
        <p:nvSpPr>
          <p:cNvPr id="11" name="Text Placeholder 10"/>
          <p:cNvSpPr>
            <a:spLocks noGrp="1"/>
          </p:cNvSpPr>
          <p:nvPr>
            <p:ph type="body" sz="quarter" idx="10" hasCustomPrompt="1"/>
          </p:nvPr>
        </p:nvSpPr>
        <p:spPr>
          <a:xfrm>
            <a:off x="4454769" y="4401023"/>
            <a:ext cx="4353169" cy="675789"/>
          </a:xfrm>
          <a:prstGeom prst="rect">
            <a:avLst/>
          </a:prstGeom>
        </p:spPr>
        <p:txBody>
          <a:bodyPr vert="horz"/>
          <a:lstStyle>
            <a:lvl1pPr marL="0" algn="l" defTabSz="914400" rtl="0" eaLnBrk="1" latinLnBrk="0" hangingPunct="1">
              <a:spcBef>
                <a:spcPct val="50000"/>
              </a:spcBef>
              <a:defRPr lang="en-US" sz="1400" b="1" kern="1200" baseline="0" dirty="0">
                <a:solidFill>
                  <a:srgbClr val="005EB8"/>
                </a:solidFill>
                <a:latin typeface="Titillium Lt" panose="00000400000000000000" pitchFamily="50" charset="0"/>
                <a:ea typeface="+mn-ea"/>
                <a:cs typeface="Arial" pitchFamily="34" charset="0"/>
              </a:defRPr>
            </a:lvl1pPr>
          </a:lstStyle>
          <a:p>
            <a:pPr lvl="0"/>
            <a:r>
              <a:rPr lang="en-US" dirty="0"/>
              <a:t>Presentation Subtitle</a:t>
            </a:r>
          </a:p>
        </p:txBody>
      </p:sp>
    </p:spTree>
    <p:extLst>
      <p:ext uri="{BB962C8B-B14F-4D97-AF65-F5344CB8AC3E}">
        <p14:creationId xmlns:p14="http://schemas.microsoft.com/office/powerpoint/2010/main" val="1106187021"/>
      </p:ext>
    </p:extLst>
  </p:cSld>
  <p:clrMapOvr>
    <a:masterClrMapping/>
  </p:clrMapOvr>
  <p:extLst mod="1">
    <p:ext uri="{DCECCB84-F9BA-43D5-87BE-67443E8EF086}">
      <p15:sldGuideLst xmlns:p15="http://schemas.microsoft.com/office/powerpoint/2012/main">
        <p15:guide id="1" orient="horz" pos="912">
          <p15:clr>
            <a:srgbClr val="FBAE40"/>
          </p15:clr>
        </p15:guide>
        <p15:guide id="2" pos="2880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Large text /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/>
          <p:cNvSpPr>
            <a:spLocks noGrp="1"/>
          </p:cNvSpPr>
          <p:nvPr>
            <p:ph type="ctrTitle"/>
          </p:nvPr>
        </p:nvSpPr>
        <p:spPr>
          <a:xfrm>
            <a:off x="617852" y="154483"/>
            <a:ext cx="6697348" cy="627860"/>
          </a:xfrm>
          <a:prstGeom prst="rect">
            <a:avLst/>
          </a:prstGeom>
        </p:spPr>
        <p:txBody>
          <a:bodyPr/>
          <a:lstStyle>
            <a:lvl1pPr algn="l">
              <a:defRPr sz="3000" b="1" i="0" baseline="0">
                <a:solidFill>
                  <a:schemeClr val="tx2"/>
                </a:solidFill>
                <a:latin typeface="Arial"/>
              </a:defRPr>
            </a:lvl1pPr>
          </a:lstStyle>
          <a:p>
            <a:r>
              <a:rPr lang="en-US" noProof="0"/>
              <a:t>Click to edit Master title style</a:t>
            </a:r>
            <a:endParaRPr lang="en-CA" noProof="0" dirty="0"/>
          </a:p>
        </p:txBody>
      </p:sp>
      <p:sp>
        <p:nvSpPr>
          <p:cNvPr id="8" name="Content Placeholder 7"/>
          <p:cNvSpPr>
            <a:spLocks noGrp="1"/>
          </p:cNvSpPr>
          <p:nvPr>
            <p:ph sz="quarter" idx="10"/>
          </p:nvPr>
        </p:nvSpPr>
        <p:spPr>
          <a:xfrm>
            <a:off x="635000" y="1248508"/>
            <a:ext cx="7840663" cy="4967260"/>
          </a:xfrm>
          <a:prstGeom prst="rect">
            <a:avLst/>
          </a:prstGeom>
        </p:spPr>
        <p:txBody>
          <a:bodyPr vert="horz"/>
          <a:lstStyle>
            <a:lvl1pPr marL="342900" indent="-342900">
              <a:buFont typeface="Arial" panose="020B0604020202020204" pitchFamily="34" charset="0"/>
              <a:buChar char="•"/>
              <a:defRPr baseline="0">
                <a:solidFill>
                  <a:schemeClr val="tx2"/>
                </a:solidFill>
              </a:defRPr>
            </a:lvl1pPr>
            <a:lvl2pPr marL="685800" indent="-342900">
              <a:buFont typeface="Arial" panose="020B0604020202020204" pitchFamily="34" charset="0"/>
              <a:buChar char="◦"/>
              <a:defRPr sz="2400"/>
            </a:lvl2pPr>
            <a:lvl3pPr marL="914400" indent="-228600">
              <a:buFont typeface="Wingdings" panose="05000000000000000000" pitchFamily="2" charset="2"/>
              <a:buChar char="§"/>
              <a:defRPr sz="2000"/>
            </a:lvl3pPr>
            <a:lvl4pPr marL="1143000" indent="-228600">
              <a:defRPr sz="1800"/>
            </a:lvl4pPr>
            <a:lvl5pPr marL="1371600" indent="-228600">
              <a:defRPr sz="1600"/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US" noProof="0" dirty="0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39000" y="2941"/>
            <a:ext cx="1905000" cy="786765"/>
          </a:xfrm>
          <a:prstGeom prst="rect">
            <a:avLst/>
          </a:prstGeom>
        </p:spPr>
      </p:pic>
      <p:sp>
        <p:nvSpPr>
          <p:cNvPr id="4" name="Rectangle 2"/>
          <p:cNvSpPr>
            <a:spLocks noChangeArrowheads="1"/>
          </p:cNvSpPr>
          <p:nvPr/>
        </p:nvSpPr>
        <p:spPr bwMode="auto">
          <a:xfrm>
            <a:off x="0" y="807882"/>
            <a:ext cx="9144000" cy="32381"/>
          </a:xfrm>
          <a:prstGeom prst="rect">
            <a:avLst/>
          </a:prstGeom>
          <a:solidFill>
            <a:srgbClr val="005EB8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6" name="TextBox 5"/>
          <p:cNvSpPr txBox="1"/>
          <p:nvPr/>
        </p:nvSpPr>
        <p:spPr>
          <a:xfrm>
            <a:off x="3035300" y="6426200"/>
            <a:ext cx="30734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dirty="0">
                <a:solidFill>
                  <a:schemeClr val="accent6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© 2016, Southern</a:t>
            </a:r>
            <a:r>
              <a:rPr lang="en-US" sz="1000" baseline="0" dirty="0">
                <a:solidFill>
                  <a:schemeClr val="accent6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Alberta Institute of Technology</a:t>
            </a:r>
            <a:endParaRPr lang="en-US" sz="1000" dirty="0">
              <a:solidFill>
                <a:schemeClr val="accent6">
                  <a:lumMod val="60000"/>
                  <a:lumOff val="4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8686798" y="6429126"/>
            <a:ext cx="370253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fld id="{7AF78733-0A8E-421A-AD57-FCAD54DD3729}" type="slidenum">
              <a:rPr lang="en-US" sz="1000" smtClean="0">
                <a:solidFill>
                  <a:schemeClr val="accent6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‹#›</a:t>
            </a:fld>
            <a:endParaRPr lang="en-US" sz="1000" dirty="0">
              <a:solidFill>
                <a:schemeClr val="accent6">
                  <a:lumMod val="60000"/>
                  <a:lumOff val="4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28845251"/>
      </p:ext>
    </p:extLst>
  </p:cSld>
  <p:clrMapOvr>
    <a:masterClrMapping/>
  </p:clrMapOvr>
  <p:hf hdr="0" dt="0"/>
  <p:extLst mod="1">
    <p:ext uri="{DCECCB84-F9BA-43D5-87BE-67443E8EF086}">
      <p15:sldGuideLst xmlns:p15="http://schemas.microsoft.com/office/powerpoint/2012/main">
        <p15:guide id="1" orient="horz" pos="864">
          <p15:clr>
            <a:srgbClr val="FBAE40"/>
          </p15:clr>
        </p15:guide>
        <p15:guide id="2" pos="5640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Large text / content - numbere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ontent Placeholder 7"/>
          <p:cNvSpPr>
            <a:spLocks noGrp="1"/>
          </p:cNvSpPr>
          <p:nvPr>
            <p:ph sz="quarter" idx="10"/>
          </p:nvPr>
        </p:nvSpPr>
        <p:spPr>
          <a:xfrm>
            <a:off x="635000" y="1248508"/>
            <a:ext cx="7840663" cy="4967260"/>
          </a:xfrm>
          <a:prstGeom prst="rect">
            <a:avLst/>
          </a:prstGeom>
        </p:spPr>
        <p:txBody>
          <a:bodyPr vert="horz"/>
          <a:lstStyle>
            <a:lvl1pPr marL="342900" indent="-342900">
              <a:buFont typeface="+mj-lt"/>
              <a:buAutoNum type="arabicPeriod"/>
              <a:defRPr baseline="0">
                <a:solidFill>
                  <a:schemeClr val="tx2"/>
                </a:solidFill>
              </a:defRPr>
            </a:lvl1pPr>
            <a:lvl2pPr marL="685800" indent="-342900">
              <a:buFont typeface="+mj-lt"/>
              <a:buAutoNum type="alphaLcParenR"/>
              <a:defRPr sz="2400"/>
            </a:lvl2pPr>
            <a:lvl3pPr marL="914400" indent="-228600">
              <a:buFont typeface="+mj-lt"/>
              <a:buAutoNum type="romanLcPeriod"/>
              <a:defRPr sz="2000"/>
            </a:lvl3pPr>
            <a:lvl4pPr marL="1143000" indent="-228600">
              <a:defRPr sz="1800"/>
            </a:lvl4pPr>
            <a:lvl5pPr marL="1371600" indent="-228600">
              <a:defRPr sz="1600"/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US" noProof="0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39000" y="2941"/>
            <a:ext cx="1905000" cy="786765"/>
          </a:xfrm>
          <a:prstGeom prst="rect">
            <a:avLst/>
          </a:prstGeom>
        </p:spPr>
      </p:pic>
      <p:sp>
        <p:nvSpPr>
          <p:cNvPr id="5" name="Rectangle 2"/>
          <p:cNvSpPr>
            <a:spLocks noChangeArrowheads="1"/>
          </p:cNvSpPr>
          <p:nvPr/>
        </p:nvSpPr>
        <p:spPr bwMode="auto">
          <a:xfrm>
            <a:off x="0" y="807882"/>
            <a:ext cx="9144000" cy="32381"/>
          </a:xfrm>
          <a:prstGeom prst="rect">
            <a:avLst/>
          </a:prstGeom>
          <a:solidFill>
            <a:srgbClr val="005EB8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3" name="Title 1"/>
          <p:cNvSpPr>
            <a:spLocks noGrp="1"/>
          </p:cNvSpPr>
          <p:nvPr>
            <p:ph type="ctrTitle"/>
          </p:nvPr>
        </p:nvSpPr>
        <p:spPr>
          <a:xfrm>
            <a:off x="615846" y="157876"/>
            <a:ext cx="6699354" cy="682387"/>
          </a:xfrm>
          <a:prstGeom prst="rect">
            <a:avLst/>
          </a:prstGeom>
        </p:spPr>
        <p:txBody>
          <a:bodyPr/>
          <a:lstStyle>
            <a:lvl1pPr algn="l">
              <a:defRPr sz="3000" b="1" i="0" baseline="0">
                <a:solidFill>
                  <a:schemeClr val="tx2"/>
                </a:solidFill>
                <a:latin typeface="Arial"/>
              </a:defRPr>
            </a:lvl1pPr>
          </a:lstStyle>
          <a:p>
            <a:r>
              <a:rPr lang="en-US" noProof="0"/>
              <a:t>Click to edit Master title style</a:t>
            </a:r>
            <a:endParaRPr lang="en-CA" noProof="0" dirty="0"/>
          </a:p>
        </p:txBody>
      </p:sp>
      <p:sp>
        <p:nvSpPr>
          <p:cNvPr id="6" name="TextBox 5"/>
          <p:cNvSpPr txBox="1"/>
          <p:nvPr/>
        </p:nvSpPr>
        <p:spPr>
          <a:xfrm>
            <a:off x="3035300" y="6426200"/>
            <a:ext cx="30734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dirty="0">
                <a:solidFill>
                  <a:schemeClr val="accent6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© 2016, Southern</a:t>
            </a:r>
            <a:r>
              <a:rPr lang="en-US" sz="1000" baseline="0" dirty="0">
                <a:solidFill>
                  <a:schemeClr val="accent6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Alberta Institute of Technology</a:t>
            </a:r>
            <a:endParaRPr lang="en-US" sz="1000" dirty="0">
              <a:solidFill>
                <a:schemeClr val="accent6">
                  <a:lumMod val="60000"/>
                  <a:lumOff val="4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8686798" y="6429126"/>
            <a:ext cx="370253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fld id="{7AF78733-0A8E-421A-AD57-FCAD54DD3729}" type="slidenum">
              <a:rPr lang="en-US" sz="1000" smtClean="0">
                <a:solidFill>
                  <a:schemeClr val="accent6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‹#›</a:t>
            </a:fld>
            <a:endParaRPr lang="en-US" sz="1000" dirty="0">
              <a:solidFill>
                <a:schemeClr val="accent6">
                  <a:lumMod val="60000"/>
                  <a:lumOff val="4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72306727"/>
      </p:ext>
    </p:extLst>
  </p:cSld>
  <p:clrMapOvr>
    <a:masterClrMapping/>
  </p:clrMapOvr>
  <p:hf hdr="0" dt="0"/>
  <p:extLst mod="1">
    <p:ext uri="{DCECCB84-F9BA-43D5-87BE-67443E8EF086}">
      <p15:sldGuideLst xmlns:p15="http://schemas.microsoft.com/office/powerpoint/2012/main">
        <p15:guide id="1" orient="horz" pos="864">
          <p15:clr>
            <a:srgbClr val="FBAE40"/>
          </p15:clr>
        </p15:guide>
        <p15:guide id="2" pos="384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Large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/>
          <p:cNvSpPr>
            <a:spLocks noGrp="1"/>
          </p:cNvSpPr>
          <p:nvPr>
            <p:ph type="ctrTitle"/>
          </p:nvPr>
        </p:nvSpPr>
        <p:spPr>
          <a:xfrm>
            <a:off x="614952" y="155768"/>
            <a:ext cx="6700248" cy="675703"/>
          </a:xfrm>
          <a:prstGeom prst="rect">
            <a:avLst/>
          </a:prstGeom>
        </p:spPr>
        <p:txBody>
          <a:bodyPr/>
          <a:lstStyle>
            <a:lvl1pPr algn="l">
              <a:defRPr sz="3000" b="1" i="0" baseline="0">
                <a:solidFill>
                  <a:schemeClr val="tx1"/>
                </a:solidFill>
                <a:latin typeface="Arial"/>
              </a:defRPr>
            </a:lvl1pPr>
          </a:lstStyle>
          <a:p>
            <a:r>
              <a:rPr lang="en-US" noProof="0"/>
              <a:t>Click to edit Master title style</a:t>
            </a:r>
            <a:endParaRPr lang="en-CA" noProof="0" dirty="0"/>
          </a:p>
        </p:txBody>
      </p:sp>
      <p:sp>
        <p:nvSpPr>
          <p:cNvPr id="5" name="Picture Placeholder 4"/>
          <p:cNvSpPr>
            <a:spLocks noGrp="1"/>
          </p:cNvSpPr>
          <p:nvPr>
            <p:ph type="pic" sz="quarter" idx="10" hasCustomPrompt="1"/>
          </p:nvPr>
        </p:nvSpPr>
        <p:spPr>
          <a:xfrm>
            <a:off x="632882" y="1239716"/>
            <a:ext cx="7842780" cy="4868750"/>
          </a:xfrm>
          <a:prstGeom prst="rect">
            <a:avLst/>
          </a:prstGeom>
        </p:spPr>
        <p:txBody>
          <a:bodyPr vert="horz"/>
          <a:lstStyle>
            <a:lvl1pPr>
              <a:defRPr baseline="0"/>
            </a:lvl1pPr>
          </a:lstStyle>
          <a:p>
            <a:r>
              <a:rPr lang="en-CA" noProof="0" dirty="0"/>
              <a:t>Insert image here.</a:t>
            </a:r>
          </a:p>
        </p:txBody>
      </p:sp>
      <p:sp>
        <p:nvSpPr>
          <p:cNvPr id="6" name="Text Placeholder 10"/>
          <p:cNvSpPr>
            <a:spLocks noGrp="1"/>
          </p:cNvSpPr>
          <p:nvPr>
            <p:ph type="body" sz="quarter" idx="11" hasCustomPrompt="1"/>
          </p:nvPr>
        </p:nvSpPr>
        <p:spPr>
          <a:xfrm>
            <a:off x="4055634" y="6133275"/>
            <a:ext cx="4496696" cy="285716"/>
          </a:xfrm>
          <a:prstGeom prst="rect">
            <a:avLst/>
          </a:prstGeom>
        </p:spPr>
        <p:txBody>
          <a:bodyPr vert="horz"/>
          <a:lstStyle>
            <a:lvl1pPr marL="0" algn="r" defTabSz="914400" rtl="0" eaLnBrk="1" latinLnBrk="0" hangingPunct="1">
              <a:spcBef>
                <a:spcPct val="50000"/>
              </a:spcBef>
              <a:defRPr lang="en-US" sz="1000" b="0" kern="1200" baseline="0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itchFamily="34" charset="0"/>
                <a:ea typeface="+mn-ea"/>
                <a:cs typeface="Arial" pitchFamily="34" charset="0"/>
              </a:defRPr>
            </a:lvl1pPr>
          </a:lstStyle>
          <a:p>
            <a:pPr lvl="0"/>
            <a:r>
              <a:rPr lang="en-US" dirty="0"/>
              <a:t>Source: Include image source here</a:t>
            </a: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39000" y="2941"/>
            <a:ext cx="1905000" cy="786765"/>
          </a:xfrm>
          <a:prstGeom prst="rect">
            <a:avLst/>
          </a:prstGeom>
        </p:spPr>
      </p:pic>
      <p:sp>
        <p:nvSpPr>
          <p:cNvPr id="8" name="Rectangle 2"/>
          <p:cNvSpPr>
            <a:spLocks noChangeArrowheads="1"/>
          </p:cNvSpPr>
          <p:nvPr/>
        </p:nvSpPr>
        <p:spPr bwMode="auto">
          <a:xfrm>
            <a:off x="0" y="807882"/>
            <a:ext cx="9144000" cy="32381"/>
          </a:xfrm>
          <a:prstGeom prst="rect">
            <a:avLst/>
          </a:prstGeom>
          <a:solidFill>
            <a:srgbClr val="005EB8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9" name="TextBox 8"/>
          <p:cNvSpPr txBox="1"/>
          <p:nvPr/>
        </p:nvSpPr>
        <p:spPr>
          <a:xfrm>
            <a:off x="3035300" y="6426200"/>
            <a:ext cx="30734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dirty="0">
                <a:solidFill>
                  <a:schemeClr val="accent6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© 2016, Southern</a:t>
            </a:r>
            <a:r>
              <a:rPr lang="en-US" sz="1000" baseline="0" dirty="0">
                <a:solidFill>
                  <a:schemeClr val="accent6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Alberta Institute of Technology</a:t>
            </a:r>
            <a:endParaRPr lang="en-US" sz="1000" dirty="0">
              <a:solidFill>
                <a:schemeClr val="accent6">
                  <a:lumMod val="60000"/>
                  <a:lumOff val="4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8686798" y="6429126"/>
            <a:ext cx="370253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fld id="{7AF78733-0A8E-421A-AD57-FCAD54DD3729}" type="slidenum">
              <a:rPr lang="en-US" sz="1000" smtClean="0">
                <a:solidFill>
                  <a:schemeClr val="accent6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‹#›</a:t>
            </a:fld>
            <a:endParaRPr lang="en-US" sz="1000" dirty="0">
              <a:solidFill>
                <a:schemeClr val="accent6">
                  <a:lumMod val="60000"/>
                  <a:lumOff val="4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636677"/>
      </p:ext>
    </p:extLst>
  </p:cSld>
  <p:clrMapOvr>
    <a:masterClrMapping/>
  </p:clrMapOvr>
  <p:hf hdr="0" dt="0"/>
  <p:extLst mod="1">
    <p:ext uri="{DCECCB84-F9BA-43D5-87BE-67443E8EF086}">
      <p15:sldGuideLst xmlns:p15="http://schemas.microsoft.com/office/powerpoint/2012/main">
        <p15:guide id="1" orient="horz" pos="864">
          <p15:clr>
            <a:srgbClr val="FBAE40"/>
          </p15:clr>
        </p15:guide>
        <p15:guide id="2" pos="2880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Large text / content /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/>
          <p:cNvSpPr>
            <a:spLocks noGrp="1"/>
          </p:cNvSpPr>
          <p:nvPr>
            <p:ph type="ctrTitle"/>
          </p:nvPr>
        </p:nvSpPr>
        <p:spPr>
          <a:xfrm>
            <a:off x="615298" y="154656"/>
            <a:ext cx="6699902" cy="685607"/>
          </a:xfrm>
          <a:prstGeom prst="rect">
            <a:avLst/>
          </a:prstGeom>
        </p:spPr>
        <p:txBody>
          <a:bodyPr/>
          <a:lstStyle>
            <a:lvl1pPr algn="l">
              <a:defRPr sz="3000" b="1" i="0" baseline="0">
                <a:solidFill>
                  <a:schemeClr val="tx2"/>
                </a:solidFill>
                <a:latin typeface="Arial"/>
              </a:defRPr>
            </a:lvl1pPr>
          </a:lstStyle>
          <a:p>
            <a:r>
              <a:rPr lang="en-US" noProof="0"/>
              <a:t>Click to edit Master title style</a:t>
            </a:r>
            <a:endParaRPr lang="en-CA" noProof="0" dirty="0"/>
          </a:p>
        </p:txBody>
      </p:sp>
      <p:sp>
        <p:nvSpPr>
          <p:cNvPr id="8" name="Content Placeholder 7"/>
          <p:cNvSpPr>
            <a:spLocks noGrp="1"/>
          </p:cNvSpPr>
          <p:nvPr>
            <p:ph sz="quarter" idx="10"/>
          </p:nvPr>
        </p:nvSpPr>
        <p:spPr>
          <a:xfrm>
            <a:off x="635000" y="1248508"/>
            <a:ext cx="7840663" cy="2517157"/>
          </a:xfrm>
          <a:prstGeom prst="rect">
            <a:avLst/>
          </a:prstGeom>
        </p:spPr>
        <p:txBody>
          <a:bodyPr vert="horz"/>
          <a:lstStyle>
            <a:lvl1pPr marL="342900" indent="-342900">
              <a:buFont typeface="Arial" panose="020B0604020202020204" pitchFamily="34" charset="0"/>
              <a:buChar char="•"/>
              <a:defRPr baseline="0">
                <a:solidFill>
                  <a:schemeClr val="tx2"/>
                </a:solidFill>
              </a:defRPr>
            </a:lvl1pPr>
            <a:lvl2pPr marL="685800" indent="-342900">
              <a:buFont typeface="Arial" panose="020B0604020202020204" pitchFamily="34" charset="0"/>
              <a:buChar char="◦"/>
              <a:defRPr sz="2400"/>
            </a:lvl2pPr>
            <a:lvl3pPr marL="914400" indent="-228600">
              <a:buFont typeface="Wingdings" panose="05000000000000000000" pitchFamily="2" charset="2"/>
              <a:buChar char="§"/>
              <a:defRPr sz="2000"/>
            </a:lvl3pPr>
            <a:lvl4pPr marL="1143000" indent="-228600">
              <a:defRPr sz="1800"/>
            </a:lvl4pPr>
            <a:lvl5pPr marL="1371600" indent="-228600">
              <a:defRPr sz="1600"/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US" noProof="0" dirty="0"/>
          </a:p>
        </p:txBody>
      </p:sp>
      <p:sp>
        <p:nvSpPr>
          <p:cNvPr id="4" name="Picture Placeholder 4"/>
          <p:cNvSpPr>
            <a:spLocks noGrp="1"/>
          </p:cNvSpPr>
          <p:nvPr>
            <p:ph type="pic" sz="quarter" idx="11" hasCustomPrompt="1"/>
          </p:nvPr>
        </p:nvSpPr>
        <p:spPr>
          <a:xfrm>
            <a:off x="632882" y="3852567"/>
            <a:ext cx="7842780" cy="2255898"/>
          </a:xfrm>
          <a:prstGeom prst="rect">
            <a:avLst/>
          </a:prstGeom>
        </p:spPr>
        <p:txBody>
          <a:bodyPr vert="horz"/>
          <a:lstStyle>
            <a:lvl1pPr>
              <a:defRPr baseline="0"/>
            </a:lvl1pPr>
          </a:lstStyle>
          <a:p>
            <a:r>
              <a:rPr lang="en-CA" noProof="0" dirty="0"/>
              <a:t>Insert image here.</a:t>
            </a:r>
          </a:p>
        </p:txBody>
      </p:sp>
      <p:sp>
        <p:nvSpPr>
          <p:cNvPr id="5" name="Text Placeholder 10"/>
          <p:cNvSpPr>
            <a:spLocks noGrp="1"/>
          </p:cNvSpPr>
          <p:nvPr>
            <p:ph type="body" sz="quarter" idx="12" hasCustomPrompt="1"/>
          </p:nvPr>
        </p:nvSpPr>
        <p:spPr>
          <a:xfrm>
            <a:off x="4055634" y="6126049"/>
            <a:ext cx="4496696" cy="257166"/>
          </a:xfrm>
          <a:prstGeom prst="rect">
            <a:avLst/>
          </a:prstGeom>
        </p:spPr>
        <p:txBody>
          <a:bodyPr vert="horz"/>
          <a:lstStyle>
            <a:lvl1pPr marL="0" algn="r" defTabSz="914400" rtl="0" eaLnBrk="1" latinLnBrk="0" hangingPunct="1">
              <a:spcBef>
                <a:spcPct val="50000"/>
              </a:spcBef>
              <a:defRPr lang="en-US" sz="1000" b="0" kern="1200" baseline="0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itchFamily="34" charset="0"/>
                <a:ea typeface="+mn-ea"/>
                <a:cs typeface="Arial" pitchFamily="34" charset="0"/>
              </a:defRPr>
            </a:lvl1pPr>
          </a:lstStyle>
          <a:p>
            <a:pPr lvl="0"/>
            <a:r>
              <a:rPr lang="en-US" dirty="0"/>
              <a:t>Source: Include image source here</a:t>
            </a: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39000" y="2941"/>
            <a:ext cx="1905000" cy="786765"/>
          </a:xfrm>
          <a:prstGeom prst="rect">
            <a:avLst/>
          </a:prstGeom>
        </p:spPr>
      </p:pic>
      <p:sp>
        <p:nvSpPr>
          <p:cNvPr id="7" name="Rectangle 2"/>
          <p:cNvSpPr>
            <a:spLocks noChangeArrowheads="1"/>
          </p:cNvSpPr>
          <p:nvPr/>
        </p:nvSpPr>
        <p:spPr bwMode="auto">
          <a:xfrm>
            <a:off x="0" y="807882"/>
            <a:ext cx="9144000" cy="32381"/>
          </a:xfrm>
          <a:prstGeom prst="rect">
            <a:avLst/>
          </a:prstGeom>
          <a:solidFill>
            <a:srgbClr val="005EB8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9" name="TextBox 8"/>
          <p:cNvSpPr txBox="1"/>
          <p:nvPr/>
        </p:nvSpPr>
        <p:spPr>
          <a:xfrm>
            <a:off x="3035300" y="6426200"/>
            <a:ext cx="30734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dirty="0">
                <a:solidFill>
                  <a:schemeClr val="accent6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© 2016, Southern</a:t>
            </a:r>
            <a:r>
              <a:rPr lang="en-US" sz="1000" baseline="0" dirty="0">
                <a:solidFill>
                  <a:schemeClr val="accent6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Alberta Institute of Technology</a:t>
            </a:r>
            <a:endParaRPr lang="en-US" sz="1000" dirty="0">
              <a:solidFill>
                <a:schemeClr val="accent6">
                  <a:lumMod val="60000"/>
                  <a:lumOff val="4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8686798" y="6429126"/>
            <a:ext cx="370253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fld id="{7AF78733-0A8E-421A-AD57-FCAD54DD3729}" type="slidenum">
              <a:rPr lang="en-US" sz="1000" smtClean="0">
                <a:solidFill>
                  <a:schemeClr val="accent6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‹#›</a:t>
            </a:fld>
            <a:endParaRPr lang="en-US" sz="1000" dirty="0">
              <a:solidFill>
                <a:schemeClr val="accent6">
                  <a:lumMod val="60000"/>
                  <a:lumOff val="4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78366956"/>
      </p:ext>
    </p:extLst>
  </p:cSld>
  <p:clrMapOvr>
    <a:masterClrMapping/>
  </p:clrMapOvr>
  <p:hf hdr="0" dt="0"/>
  <p:extLst mod="1">
    <p:ext uri="{DCECCB84-F9BA-43D5-87BE-67443E8EF086}">
      <p15:sldGuideLst xmlns:p15="http://schemas.microsoft.com/office/powerpoint/2012/main">
        <p15:guide id="1" orient="horz" pos="864">
          <p15:clr>
            <a:srgbClr val="FBAE40"/>
          </p15:clr>
        </p15:guide>
        <p15:guide id="2" pos="2880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Image / Text spli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/>
          <p:cNvSpPr>
            <a:spLocks noGrp="1"/>
          </p:cNvSpPr>
          <p:nvPr>
            <p:ph type="ctrTitle"/>
          </p:nvPr>
        </p:nvSpPr>
        <p:spPr>
          <a:xfrm>
            <a:off x="615298" y="160030"/>
            <a:ext cx="6699902" cy="647852"/>
          </a:xfrm>
          <a:prstGeom prst="rect">
            <a:avLst/>
          </a:prstGeom>
        </p:spPr>
        <p:txBody>
          <a:bodyPr/>
          <a:lstStyle>
            <a:lvl1pPr algn="l">
              <a:defRPr sz="3000" b="1" i="0" baseline="0">
                <a:solidFill>
                  <a:schemeClr val="tx1"/>
                </a:solidFill>
                <a:latin typeface="Arial"/>
              </a:defRPr>
            </a:lvl1pPr>
          </a:lstStyle>
          <a:p>
            <a:r>
              <a:rPr lang="en-US" noProof="0"/>
              <a:t>Click to edit Master title style</a:t>
            </a:r>
            <a:endParaRPr lang="en-CA" noProof="0" dirty="0"/>
          </a:p>
        </p:txBody>
      </p:sp>
      <p:sp>
        <p:nvSpPr>
          <p:cNvPr id="4" name="Picture Placeholder 4"/>
          <p:cNvSpPr>
            <a:spLocks noGrp="1"/>
          </p:cNvSpPr>
          <p:nvPr>
            <p:ph type="pic" sz="quarter" idx="10" hasCustomPrompt="1"/>
          </p:nvPr>
        </p:nvSpPr>
        <p:spPr>
          <a:xfrm>
            <a:off x="5105400" y="1248508"/>
            <a:ext cx="3370262" cy="4689714"/>
          </a:xfrm>
          <a:prstGeom prst="rect">
            <a:avLst/>
          </a:prstGeom>
        </p:spPr>
        <p:txBody>
          <a:bodyPr vert="horz"/>
          <a:lstStyle>
            <a:lvl1pPr marL="0" indent="0">
              <a:buFont typeface="Arial" panose="020B0604020202020204" pitchFamily="34" charset="0"/>
              <a:buNone/>
              <a:defRPr baseline="0">
                <a:solidFill>
                  <a:schemeClr val="accent3"/>
                </a:solidFill>
              </a:defRPr>
            </a:lvl1pPr>
            <a:lvl2pPr marL="685800" indent="-342900">
              <a:defRPr/>
            </a:lvl2pPr>
            <a:lvl3pPr marL="914400" indent="-228600">
              <a:buFont typeface="Wingdings" panose="05000000000000000000" pitchFamily="2" charset="2"/>
              <a:buChar char="§"/>
              <a:defRPr sz="2000"/>
            </a:lvl3pPr>
            <a:lvl4pPr marL="1143000" indent="-228600">
              <a:defRPr sz="1800"/>
            </a:lvl4pPr>
            <a:lvl5pPr marL="1371600" indent="-228600">
              <a:defRPr sz="1600"/>
            </a:lvl5pPr>
          </a:lstStyle>
          <a:p>
            <a:r>
              <a:rPr lang="en-CA" noProof="0" dirty="0"/>
              <a:t>Insert image here.</a:t>
            </a:r>
          </a:p>
        </p:txBody>
      </p:sp>
      <p:sp>
        <p:nvSpPr>
          <p:cNvPr id="6" name="Content Placeholder 7"/>
          <p:cNvSpPr>
            <a:spLocks noGrp="1"/>
          </p:cNvSpPr>
          <p:nvPr>
            <p:ph sz="quarter" idx="12"/>
          </p:nvPr>
        </p:nvSpPr>
        <p:spPr>
          <a:xfrm>
            <a:off x="635001" y="1248508"/>
            <a:ext cx="4203699" cy="5076988"/>
          </a:xfrm>
          <a:prstGeom prst="rect">
            <a:avLst/>
          </a:prstGeom>
        </p:spPr>
        <p:txBody>
          <a:bodyPr vert="horz"/>
          <a:lstStyle>
            <a:lvl1pPr marL="342900" indent="-342900">
              <a:buFont typeface="Arial" panose="020B0604020202020204" pitchFamily="34" charset="0"/>
              <a:buChar char="•"/>
              <a:defRPr baseline="0">
                <a:solidFill>
                  <a:schemeClr val="tx2"/>
                </a:solidFill>
              </a:defRPr>
            </a:lvl1pPr>
            <a:lvl2pPr marL="685800" indent="-342900">
              <a:buFont typeface="Arial" panose="020B0604020202020204" pitchFamily="34" charset="0"/>
              <a:buChar char="◦"/>
              <a:defRPr sz="2400"/>
            </a:lvl2pPr>
            <a:lvl3pPr marL="914400" indent="-228600">
              <a:buFont typeface="Wingdings" panose="05000000000000000000" pitchFamily="2" charset="2"/>
              <a:buChar char="§"/>
              <a:defRPr sz="2000"/>
            </a:lvl3pPr>
            <a:lvl4pPr marL="1143000" indent="-228600">
              <a:defRPr sz="1800"/>
            </a:lvl4pPr>
            <a:lvl5pPr marL="1371600" indent="-228600">
              <a:tabLst/>
              <a:defRPr sz="1600"/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CA" noProof="0" dirty="0"/>
          </a:p>
        </p:txBody>
      </p:sp>
      <p:sp>
        <p:nvSpPr>
          <p:cNvPr id="8" name="Text Placeholder 10"/>
          <p:cNvSpPr>
            <a:spLocks noGrp="1"/>
          </p:cNvSpPr>
          <p:nvPr>
            <p:ph type="body" sz="quarter" idx="11" hasCustomPrompt="1"/>
          </p:nvPr>
        </p:nvSpPr>
        <p:spPr>
          <a:xfrm>
            <a:off x="5104870" y="5938221"/>
            <a:ext cx="3490490" cy="384318"/>
          </a:xfrm>
          <a:prstGeom prst="rect">
            <a:avLst/>
          </a:prstGeom>
        </p:spPr>
        <p:txBody>
          <a:bodyPr vert="horz"/>
          <a:lstStyle>
            <a:lvl1pPr marL="0" algn="r" defTabSz="914400" rtl="0" eaLnBrk="1" latinLnBrk="0" hangingPunct="1">
              <a:spcBef>
                <a:spcPct val="50000"/>
              </a:spcBef>
              <a:defRPr lang="en-US" sz="1000" b="0" kern="1200" baseline="0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itchFamily="34" charset="0"/>
                <a:ea typeface="+mn-ea"/>
                <a:cs typeface="Arial" pitchFamily="34" charset="0"/>
              </a:defRPr>
            </a:lvl1pPr>
          </a:lstStyle>
          <a:p>
            <a:pPr lvl="0"/>
            <a:r>
              <a:rPr lang="en-US" dirty="0"/>
              <a:t>Source: Include image source here</a:t>
            </a: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39000" y="2941"/>
            <a:ext cx="1905000" cy="786765"/>
          </a:xfrm>
          <a:prstGeom prst="rect">
            <a:avLst/>
          </a:prstGeom>
        </p:spPr>
      </p:pic>
      <p:sp>
        <p:nvSpPr>
          <p:cNvPr id="9" name="Rectangle 2"/>
          <p:cNvSpPr>
            <a:spLocks noChangeArrowheads="1"/>
          </p:cNvSpPr>
          <p:nvPr/>
        </p:nvSpPr>
        <p:spPr bwMode="auto">
          <a:xfrm>
            <a:off x="0" y="807882"/>
            <a:ext cx="9144000" cy="32381"/>
          </a:xfrm>
          <a:prstGeom prst="rect">
            <a:avLst/>
          </a:prstGeom>
          <a:solidFill>
            <a:srgbClr val="005EB8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0" name="TextBox 9"/>
          <p:cNvSpPr txBox="1"/>
          <p:nvPr/>
        </p:nvSpPr>
        <p:spPr>
          <a:xfrm>
            <a:off x="3035300" y="6426200"/>
            <a:ext cx="30734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dirty="0">
                <a:solidFill>
                  <a:schemeClr val="accent6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© 2016, Southern Alberta Institute of Technology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798" y="6429126"/>
            <a:ext cx="370253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fld id="{7AF78733-0A8E-421A-AD57-FCAD54DD3729}" type="slidenum">
              <a:rPr lang="en-US" sz="1000" smtClean="0">
                <a:solidFill>
                  <a:schemeClr val="accent6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‹#›</a:t>
            </a:fld>
            <a:endParaRPr lang="en-US" sz="1000" dirty="0">
              <a:solidFill>
                <a:schemeClr val="accent6">
                  <a:lumMod val="60000"/>
                  <a:lumOff val="4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2040100"/>
      </p:ext>
    </p:extLst>
  </p:cSld>
  <p:clrMapOvr>
    <a:masterClrMapping/>
  </p:clrMapOvr>
  <p:hf hdr="0" dt="0"/>
  <p:extLst mod="1">
    <p:ext uri="{DCECCB84-F9BA-43D5-87BE-67443E8EF086}">
      <p15:sldGuideLst xmlns:p15="http://schemas.microsoft.com/office/powerpoint/2012/main">
        <p15:guide id="1" orient="horz" pos="864">
          <p15:clr>
            <a:srgbClr val="FBAE40"/>
          </p15:clr>
        </p15:guide>
        <p15:guide id="2" pos="2880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ext / Text spli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/>
          <p:cNvSpPr>
            <a:spLocks noGrp="1"/>
          </p:cNvSpPr>
          <p:nvPr>
            <p:ph type="ctrTitle"/>
          </p:nvPr>
        </p:nvSpPr>
        <p:spPr>
          <a:xfrm>
            <a:off x="615298" y="155149"/>
            <a:ext cx="6708694" cy="685114"/>
          </a:xfrm>
          <a:prstGeom prst="rect">
            <a:avLst/>
          </a:prstGeom>
        </p:spPr>
        <p:txBody>
          <a:bodyPr/>
          <a:lstStyle>
            <a:lvl1pPr algn="l">
              <a:defRPr sz="3000" b="1" i="0" baseline="0">
                <a:solidFill>
                  <a:schemeClr val="tx2"/>
                </a:solidFill>
                <a:latin typeface="Arial"/>
              </a:defRPr>
            </a:lvl1pPr>
          </a:lstStyle>
          <a:p>
            <a:r>
              <a:rPr lang="en-US" noProof="0"/>
              <a:t>Click to edit Master title style</a:t>
            </a:r>
            <a:endParaRPr lang="en-CA" noProof="0" dirty="0"/>
          </a:p>
        </p:txBody>
      </p:sp>
      <p:sp>
        <p:nvSpPr>
          <p:cNvPr id="10" name="Content Placeholder 3"/>
          <p:cNvSpPr>
            <a:spLocks noGrp="1"/>
          </p:cNvSpPr>
          <p:nvPr>
            <p:ph sz="half" idx="2"/>
          </p:nvPr>
        </p:nvSpPr>
        <p:spPr>
          <a:xfrm>
            <a:off x="4695092" y="1239715"/>
            <a:ext cx="3791250" cy="5085781"/>
          </a:xfrm>
          <a:prstGeom prst="rect">
            <a:avLst/>
          </a:prstGeom>
        </p:spPr>
        <p:txBody>
          <a:bodyPr/>
          <a:lstStyle>
            <a:lvl1pPr marL="342900" indent="-342900">
              <a:buFont typeface="Arial" panose="020B0604020202020204" pitchFamily="34" charset="0"/>
              <a:buChar char="•"/>
              <a:defRPr sz="2800">
                <a:solidFill>
                  <a:schemeClr val="tx2"/>
                </a:solidFill>
              </a:defRPr>
            </a:lvl1pPr>
            <a:lvl2pPr marL="685800" indent="-342900">
              <a:buFont typeface="Arial" panose="020B0604020202020204" pitchFamily="34" charset="0"/>
              <a:buChar char="◦"/>
              <a:defRPr sz="2400" b="0"/>
            </a:lvl2pPr>
            <a:lvl3pPr marL="914400" indent="-228600">
              <a:buFont typeface="Wingdings" panose="05000000000000000000" pitchFamily="2" charset="2"/>
              <a:buChar char="§"/>
              <a:defRPr sz="2000" b="0"/>
            </a:lvl3pPr>
            <a:lvl4pPr marL="1143000" indent="-228600">
              <a:defRPr sz="1800" b="0"/>
            </a:lvl4pPr>
            <a:lvl5pPr marL="1371600" indent="-228600">
              <a:defRPr sz="1600" b="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CA" noProof="0" dirty="0"/>
          </a:p>
        </p:txBody>
      </p:sp>
      <p:sp>
        <p:nvSpPr>
          <p:cNvPr id="11" name="Content Placeholder 7"/>
          <p:cNvSpPr>
            <a:spLocks noGrp="1"/>
          </p:cNvSpPr>
          <p:nvPr>
            <p:ph sz="quarter" idx="12"/>
          </p:nvPr>
        </p:nvSpPr>
        <p:spPr>
          <a:xfrm>
            <a:off x="635001" y="1239715"/>
            <a:ext cx="3831491" cy="5085781"/>
          </a:xfrm>
          <a:prstGeom prst="rect">
            <a:avLst/>
          </a:prstGeom>
        </p:spPr>
        <p:txBody>
          <a:bodyPr vert="horz"/>
          <a:lstStyle>
            <a:lvl1pPr marL="342900" indent="-342900">
              <a:buFont typeface="Arial" panose="020B0604020202020204" pitchFamily="34" charset="0"/>
              <a:buChar char="•"/>
              <a:defRPr baseline="0">
                <a:solidFill>
                  <a:schemeClr val="tx2"/>
                </a:solidFill>
              </a:defRPr>
            </a:lvl1pPr>
            <a:lvl2pPr marL="685800" indent="-342900">
              <a:buFont typeface="Arial" panose="020B0604020202020204" pitchFamily="34" charset="0"/>
              <a:buChar char="◦"/>
              <a:defRPr sz="2400"/>
            </a:lvl2pPr>
            <a:lvl3pPr marL="914400" indent="-228600">
              <a:buFont typeface="Wingdings" panose="05000000000000000000" pitchFamily="2" charset="2"/>
              <a:buChar char="§"/>
              <a:defRPr sz="2000"/>
            </a:lvl3pPr>
            <a:lvl4pPr marL="1143000" indent="-228600">
              <a:defRPr sz="1800"/>
            </a:lvl4pPr>
            <a:lvl5pPr marL="1371600" indent="-228600">
              <a:tabLst/>
              <a:defRPr sz="1600"/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CA" noProof="0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39000" y="2941"/>
            <a:ext cx="1905000" cy="786765"/>
          </a:xfrm>
          <a:prstGeom prst="rect">
            <a:avLst/>
          </a:prstGeom>
        </p:spPr>
      </p:pic>
      <p:sp>
        <p:nvSpPr>
          <p:cNvPr id="6" name="Rectangle 2"/>
          <p:cNvSpPr>
            <a:spLocks noChangeArrowheads="1"/>
          </p:cNvSpPr>
          <p:nvPr/>
        </p:nvSpPr>
        <p:spPr bwMode="auto">
          <a:xfrm>
            <a:off x="0" y="807882"/>
            <a:ext cx="9144000" cy="32381"/>
          </a:xfrm>
          <a:prstGeom prst="rect">
            <a:avLst/>
          </a:prstGeom>
          <a:solidFill>
            <a:srgbClr val="005EB8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7" name="TextBox 6"/>
          <p:cNvSpPr txBox="1"/>
          <p:nvPr/>
        </p:nvSpPr>
        <p:spPr>
          <a:xfrm>
            <a:off x="3035300" y="6426200"/>
            <a:ext cx="30734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dirty="0">
                <a:solidFill>
                  <a:schemeClr val="accent6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© 2016, Southern Alberta Institute of</a:t>
            </a:r>
            <a:r>
              <a:rPr lang="en-US" sz="1000" baseline="0" dirty="0">
                <a:solidFill>
                  <a:schemeClr val="accent6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Technology</a:t>
            </a:r>
            <a:endParaRPr lang="en-US" sz="1000" dirty="0">
              <a:solidFill>
                <a:schemeClr val="accent6">
                  <a:lumMod val="60000"/>
                  <a:lumOff val="4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8686798" y="6429126"/>
            <a:ext cx="370253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fld id="{7AF78733-0A8E-421A-AD57-FCAD54DD3729}" type="slidenum">
              <a:rPr lang="en-US" sz="1000" smtClean="0">
                <a:solidFill>
                  <a:schemeClr val="accent6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‹#›</a:t>
            </a:fld>
            <a:endParaRPr lang="en-US" sz="1000" dirty="0">
              <a:solidFill>
                <a:schemeClr val="accent6">
                  <a:lumMod val="60000"/>
                  <a:lumOff val="4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89904668"/>
      </p:ext>
    </p:extLst>
  </p:cSld>
  <p:clrMapOvr>
    <a:masterClrMapping/>
  </p:clrMapOvr>
  <p:hf hdr="0" dt="0"/>
  <p:extLst mod="1">
    <p:ext uri="{DCECCB84-F9BA-43D5-87BE-67443E8EF086}">
      <p15:sldGuideLst xmlns:p15="http://schemas.microsoft.com/office/powerpoint/2012/main">
        <p15:guide id="1" orient="horz" pos="864">
          <p15:clr>
            <a:srgbClr val="FBAE40"/>
          </p15:clr>
        </p15:guide>
        <p15:guide id="2" pos="2880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py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39000" y="2941"/>
            <a:ext cx="1905000" cy="786765"/>
          </a:xfrm>
          <a:prstGeom prst="rect">
            <a:avLst/>
          </a:prstGeom>
        </p:spPr>
      </p:pic>
      <p:sp>
        <p:nvSpPr>
          <p:cNvPr id="5" name="Rectangle 2"/>
          <p:cNvSpPr>
            <a:spLocks noChangeArrowheads="1"/>
          </p:cNvSpPr>
          <p:nvPr/>
        </p:nvSpPr>
        <p:spPr bwMode="auto">
          <a:xfrm>
            <a:off x="0" y="807882"/>
            <a:ext cx="9144000" cy="32381"/>
          </a:xfrm>
          <a:prstGeom prst="rect">
            <a:avLst/>
          </a:prstGeom>
          <a:solidFill>
            <a:srgbClr val="005EB8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0" name="Content Placeholder 3"/>
          <p:cNvSpPr>
            <a:spLocks noGrp="1"/>
          </p:cNvSpPr>
          <p:nvPr>
            <p:ph sz="quarter" idx="10"/>
          </p:nvPr>
        </p:nvSpPr>
        <p:spPr>
          <a:xfrm>
            <a:off x="635000" y="4297680"/>
            <a:ext cx="7840663" cy="2320290"/>
          </a:xfrm>
          <a:prstGeom prst="rect">
            <a:avLst/>
          </a:prstGeom>
          <a:noFill/>
        </p:spPr>
        <p:txBody>
          <a:bodyPr/>
          <a:lstStyle>
            <a:lvl1pPr marL="0" marR="0" indent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11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marL="0" marR="0"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100">
                <a:effectLst/>
                <a:latin typeface="Arial" panose="020B0604020202020204" pitchFamily="34" charset="0"/>
                <a:cs typeface="Times New Roman" panose="02020603050405020304" pitchFamily="18" charset="0"/>
              </a:rPr>
              <a:t>Click to edit Master text styles</a:t>
            </a:r>
          </a:p>
          <a:p>
            <a:pPr marL="0" marR="0"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100">
                <a:effectLst/>
                <a:latin typeface="Arial" panose="020B0604020202020204" pitchFamily="34" charset="0"/>
                <a:cs typeface="Times New Roman" panose="02020603050405020304" pitchFamily="18" charset="0"/>
              </a:rPr>
              <a:t>Second level</a:t>
            </a:r>
          </a:p>
          <a:p>
            <a:pPr marL="0" marR="0"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100">
                <a:effectLst/>
                <a:latin typeface="Arial" panose="020B0604020202020204" pitchFamily="34" charset="0"/>
                <a:cs typeface="Times New Roman" panose="02020603050405020304" pitchFamily="18" charset="0"/>
              </a:rPr>
              <a:t>Third level</a:t>
            </a:r>
          </a:p>
          <a:p>
            <a:pPr marL="0" marR="0"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100">
                <a:effectLst/>
                <a:latin typeface="Arial" panose="020B0604020202020204" pitchFamily="34" charset="0"/>
                <a:cs typeface="Times New Roman" panose="02020603050405020304" pitchFamily="18" charset="0"/>
              </a:rPr>
              <a:t>Fourth level</a:t>
            </a:r>
          </a:p>
          <a:p>
            <a:pPr marL="0" marR="0"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100">
                <a:effectLst/>
                <a:latin typeface="Arial" panose="020B0604020202020204" pitchFamily="34" charset="0"/>
                <a:cs typeface="Times New Roman" panose="02020603050405020304" pitchFamily="18" charset="0"/>
              </a:rPr>
              <a:t>Fifth level</a:t>
            </a:r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1984922371"/>
      </p:ext>
    </p:extLst>
  </p:cSld>
  <p:clrMapOvr>
    <a:masterClrMapping/>
  </p:clrMapOvr>
  <p:hf hdr="0" dt="0"/>
  <p:extLst mod="1">
    <p:ext uri="{DCECCB84-F9BA-43D5-87BE-67443E8EF086}">
      <p15:sldGuideLst xmlns:p15="http://schemas.microsoft.com/office/powerpoint/2012/main">
        <p15:guide id="1" orient="horz" pos="864">
          <p15:clr>
            <a:srgbClr val="FBAE40"/>
          </p15:clr>
        </p15:guide>
        <p15:guide id="2" pos="384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867004" y="1122363"/>
            <a:ext cx="5133996" cy="2387600"/>
          </a:xfrm>
          <a:prstGeom prst="rect">
            <a:avLst/>
          </a:prstGeom>
        </p:spPr>
        <p:txBody>
          <a:bodyPr anchor="b">
            <a:normAutofit/>
          </a:bodyPr>
          <a:lstStyle>
            <a:lvl1pPr algn="l">
              <a:defRPr sz="4050" b="1" i="0">
                <a:solidFill>
                  <a:schemeClr val="accent1"/>
                </a:solidFill>
                <a:latin typeface="Verdana" charset="0"/>
                <a:ea typeface="Verdana" charset="0"/>
                <a:cs typeface="Verdana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867004" y="3602038"/>
            <a:ext cx="5133996" cy="1655762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l">
              <a:buNone/>
              <a:defRPr sz="2250">
                <a:solidFill>
                  <a:schemeClr val="accent1"/>
                </a:solidFill>
                <a:latin typeface="Verdana" charset="0"/>
                <a:ea typeface="Verdana" charset="0"/>
                <a:cs typeface="Verdana" charset="0"/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858125" y="6390217"/>
            <a:ext cx="657225" cy="365125"/>
          </a:xfrm>
          <a:prstGeom prst="rect">
            <a:avLst/>
          </a:prstGeom>
        </p:spPr>
        <p:txBody>
          <a:bodyPr anchor="b"/>
          <a:lstStyle>
            <a:lvl1pPr>
              <a:defRPr>
                <a:solidFill>
                  <a:schemeClr val="accent6"/>
                </a:solidFill>
              </a:defRPr>
            </a:lvl1pPr>
          </a:lstStyle>
          <a:p>
            <a:fld id="{6C391EDA-B3EF-4F52-AD1E-44FF8FCB7CBA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7" name="Picture 6" descr="sait_icon_wordmark_colour.png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725" y="904252"/>
            <a:ext cx="2781279" cy="47180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13998836"/>
      </p:ext>
    </p:extLst>
  </p:cSld>
  <p:clrMapOvr>
    <a:masterClrMapping/>
  </p:clrMapOvr>
  <p:hf hd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0"/>
          </p:nvPr>
        </p:nvSpPr>
        <p:spPr>
          <a:xfrm>
            <a:off x="457200" y="6245225"/>
            <a:ext cx="3886200" cy="47625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Guide to Networking Essentials, 7th Edition</a:t>
            </a:r>
            <a:endParaRPr lang="en-US" dirty="0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1"/>
          </p:nvPr>
        </p:nvSpPr>
        <p:spPr>
          <a:xfrm>
            <a:off x="8001000" y="6245225"/>
            <a:ext cx="685800" cy="47625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fld id="{AF459AD7-A5D3-4044-A21F-E9BACB4CDE09}" type="slidenum">
              <a:rPr lang="en-US"/>
              <a:pPr/>
              <a:t>‹#›</a:t>
            </a:fld>
            <a:endParaRPr lang="en-US" dirty="0"/>
          </a:p>
        </p:txBody>
      </p:sp>
      <p:sp>
        <p:nvSpPr>
          <p:cNvPr id="6" name="Rectangle 5"/>
          <p:cNvSpPr/>
          <p:nvPr userDrawn="1"/>
        </p:nvSpPr>
        <p:spPr>
          <a:xfrm>
            <a:off x="5638800" y="6426200"/>
            <a:ext cx="1880643" cy="2616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100" kern="1200" dirty="0">
                <a:solidFill>
                  <a:schemeClr val="tx1"/>
                </a:solidFill>
                <a:effectLst/>
                <a:latin typeface="Arial" charset="0"/>
                <a:ea typeface="ＭＳ Ｐゴシック" pitchFamily="-110" charset="-128"/>
                <a:cs typeface="+mn-cs"/>
              </a:rPr>
              <a:t>© Cengage Learning  2016</a:t>
            </a:r>
          </a:p>
        </p:txBody>
      </p:sp>
    </p:spTree>
    <p:extLst>
      <p:ext uri="{BB962C8B-B14F-4D97-AF65-F5344CB8AC3E}">
        <p14:creationId xmlns:p14="http://schemas.microsoft.com/office/powerpoint/2010/main" val="190610140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image" Target="../media/image1.jpe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3" name="Rectangle 5"/>
          <p:cNvSpPr>
            <a:spLocks noChangeArrowheads="1"/>
          </p:cNvSpPr>
          <p:nvPr/>
        </p:nvSpPr>
        <p:spPr bwMode="auto">
          <a:xfrm>
            <a:off x="0" y="45720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tabLst>
                <a:tab pos="2120900" algn="r"/>
                <a:tab pos="2971800" algn="ctr"/>
                <a:tab pos="5943600" algn="r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tabLst>
                <a:tab pos="2120900" algn="r"/>
                <a:tab pos="2971800" algn="ctr"/>
                <a:tab pos="5943600" algn="r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tabLst>
                <a:tab pos="2120900" algn="r"/>
                <a:tab pos="2971800" algn="ctr"/>
                <a:tab pos="5943600" algn="r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tabLst>
                <a:tab pos="2120900" algn="r"/>
                <a:tab pos="2971800" algn="ctr"/>
                <a:tab pos="5943600" algn="r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tabLst>
                <a:tab pos="2120900" algn="r"/>
                <a:tab pos="2971800" algn="ctr"/>
                <a:tab pos="5943600" algn="r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tabLst>
                <a:tab pos="2120900" algn="r"/>
                <a:tab pos="2971800" algn="ctr"/>
                <a:tab pos="5943600" algn="r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tabLst>
                <a:tab pos="2120900" algn="r"/>
                <a:tab pos="2971800" algn="ctr"/>
                <a:tab pos="5943600" algn="r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tabLst>
                <a:tab pos="2120900" algn="r"/>
                <a:tab pos="2971800" algn="ctr"/>
                <a:tab pos="5943600" algn="r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tabLst>
                <a:tab pos="2120900" algn="r"/>
                <a:tab pos="2971800" algn="ctr"/>
                <a:tab pos="5943600" algn="r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2120900" algn="r"/>
                <a:tab pos="2971800" algn="ctr"/>
                <a:tab pos="5943600" algn="r"/>
              </a:tabLst>
            </a:pPr>
            <a:r>
              <a:rPr kumimoji="0" lang="en-US" altLang="en-US" sz="12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3035300" y="6426200"/>
            <a:ext cx="30734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dirty="0">
                <a:solidFill>
                  <a:schemeClr val="accent6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© 2016, SAIT Polytechnic</a:t>
            </a:r>
          </a:p>
        </p:txBody>
      </p:sp>
      <p:pic>
        <p:nvPicPr>
          <p:cNvPr id="10" name="Picture 9"/>
          <p:cNvPicPr>
            <a:picLocks noChangeAspect="1"/>
          </p:cNvPicPr>
          <p:nvPr/>
        </p:nvPicPr>
        <p:blipFill>
          <a:blip r:embed="rId1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39000" y="2941"/>
            <a:ext cx="1905000" cy="786765"/>
          </a:xfrm>
          <a:prstGeom prst="rect">
            <a:avLst/>
          </a:prstGeom>
        </p:spPr>
      </p:pic>
      <p:sp>
        <p:nvSpPr>
          <p:cNvPr id="11" name="Rectangle 2"/>
          <p:cNvSpPr>
            <a:spLocks noChangeArrowheads="1"/>
          </p:cNvSpPr>
          <p:nvPr/>
        </p:nvSpPr>
        <p:spPr bwMode="auto">
          <a:xfrm>
            <a:off x="0" y="807882"/>
            <a:ext cx="9144000" cy="32381"/>
          </a:xfrm>
          <a:prstGeom prst="rect">
            <a:avLst/>
          </a:prstGeom>
          <a:solidFill>
            <a:srgbClr val="005EB8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878654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  <p:sldLayoutId id="2147483665" r:id="rId4"/>
    <p:sldLayoutId id="2147483666" r:id="rId5"/>
    <p:sldLayoutId id="2147483667" r:id="rId6"/>
    <p:sldLayoutId id="2147483668" r:id="rId7"/>
    <p:sldLayoutId id="2147483669" r:id="rId8"/>
    <p:sldLayoutId id="2147483670" r:id="rId9"/>
    <p:sldLayoutId id="2147483671" r:id="rId10"/>
  </p:sldLayoutIdLst>
  <p:hf hd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spcBef>
          <a:spcPct val="20000"/>
        </a:spcBef>
        <a:buFont typeface="Arial" pitchFamily="34" charset="0"/>
        <a:buNone/>
        <a:defRPr sz="2800" kern="1200" baseline="0">
          <a:solidFill>
            <a:schemeClr val="accent3"/>
          </a:solidFill>
          <a:latin typeface="Arial" pitchFamily="34" charset="0"/>
          <a:ea typeface="+mn-ea"/>
          <a:cs typeface="Arial" pitchFamily="34" charset="0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8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8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0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webopedia.com/quick_ref/OSI_Layers.asp" TargetMode="External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>
                <a:solidFill>
                  <a:srgbClr val="3C3C3C"/>
                </a:solidFill>
                <a:latin typeface="Arial"/>
              </a:rPr>
              <a:t>Network Concepts and Windows Server</a:t>
            </a:r>
            <a:endParaRPr lang="en-US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17852" y="-36017"/>
            <a:ext cx="6697348" cy="627860"/>
          </a:xfrm>
        </p:spPr>
        <p:txBody>
          <a:bodyPr>
            <a:normAutofit fontScale="90000"/>
          </a:bodyPr>
          <a:lstStyle/>
          <a:p>
            <a:r>
              <a:rPr lang="en-US" dirty="0">
                <a:solidFill>
                  <a:srgbClr val="3C3C3C"/>
                </a:solidFill>
                <a:latin typeface="Arial"/>
              </a:rPr>
              <a:t>Introduction to Network Concepts and Windows Server</a:t>
            </a:r>
            <a:br>
              <a:rPr lang="en-US" dirty="0">
                <a:solidFill>
                  <a:srgbClr val="3C3C3C"/>
                </a:solidFill>
                <a:latin typeface="Arial"/>
              </a:rPr>
            </a:b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sz="quarter" idx="10"/>
          </p:nvPr>
        </p:nvSpPr>
        <p:spPr>
          <a:solidFill>
            <a:srgbClr val="FFFFFF"/>
          </a:solidFill>
        </p:spPr>
        <p:txBody>
          <a:bodyPr/>
          <a:lstStyle/>
          <a:p>
            <a:pPr marL="0" indent="0">
              <a:buNone/>
            </a:pPr>
            <a:r>
              <a:rPr lang="en-US" dirty="0">
                <a:solidFill>
                  <a:srgbClr val="3C3C3C"/>
                </a:solidFill>
                <a:latin typeface="Arial"/>
              </a:rPr>
              <a:t>Introduction to Network Concepts and Windows Server</a:t>
            </a:r>
            <a:endParaRPr lang="en-US" dirty="0">
              <a:latin typeface="Arial"/>
            </a:endParaRPr>
          </a:p>
          <a:p>
            <a:r>
              <a:rPr lang="en-US" dirty="0">
                <a:latin typeface="Arial"/>
              </a:rPr>
              <a:t>Lesson Objectives</a:t>
            </a:r>
          </a:p>
          <a:p>
            <a:r>
              <a:rPr lang="en-US" dirty="0">
                <a:latin typeface="Arial"/>
              </a:rPr>
              <a:t>Labs </a:t>
            </a:r>
          </a:p>
          <a:p>
            <a:r>
              <a:rPr lang="en-US">
                <a:latin typeface="Arial"/>
              </a:rPr>
              <a:t>Quizes</a:t>
            </a:r>
            <a:endParaRPr lang="en-US" dirty="0"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12991469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dirty="0">
                <a:solidFill>
                  <a:srgbClr val="3C3C3C"/>
                </a:solidFill>
                <a:latin typeface="Arial"/>
              </a:rPr>
              <a:t>Module 1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sz="quarter" idx="10"/>
          </p:nvPr>
        </p:nvSpPr>
        <p:spPr>
          <a:solidFill>
            <a:srgbClr val="FFFFFF"/>
          </a:solidFill>
        </p:spPr>
        <p:txBody>
          <a:bodyPr/>
          <a:lstStyle/>
          <a:p>
            <a:pPr marL="0" indent="0" algn="ctr">
              <a:buNone/>
            </a:pPr>
            <a:endParaRPr lang="en-US" sz="6600" dirty="0">
              <a:solidFill>
                <a:srgbClr val="3C3C3C"/>
              </a:solidFill>
              <a:latin typeface="Arial"/>
            </a:endParaRPr>
          </a:p>
          <a:p>
            <a:pPr marL="0" indent="0" algn="ctr">
              <a:buNone/>
            </a:pPr>
            <a:r>
              <a:rPr lang="en-US" sz="6600" dirty="0">
                <a:latin typeface="Arial"/>
              </a:rPr>
              <a:t>Network Concepts</a:t>
            </a:r>
            <a:endParaRPr lang="en-US" sz="6600" dirty="0">
              <a:solidFill>
                <a:srgbClr val="3C3C3C"/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99394354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dirty="0">
                <a:solidFill>
                  <a:srgbClr val="3C3C3C"/>
                </a:solidFill>
                <a:latin typeface="Arial"/>
              </a:rPr>
              <a:t>Lesson Objectives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sz="quarter" idx="10"/>
          </p:nvPr>
        </p:nvSpPr>
        <p:spPr>
          <a:solidFill>
            <a:srgbClr val="FFFFFF"/>
          </a:solidFill>
        </p:spPr>
        <p:txBody>
          <a:bodyPr>
            <a:normAutofit/>
          </a:bodyPr>
          <a:lstStyle/>
          <a:p>
            <a:r>
              <a:rPr lang="en-CA" dirty="0"/>
              <a:t>Describe basic network communications</a:t>
            </a:r>
          </a:p>
          <a:p>
            <a:r>
              <a:rPr lang="en-CA" dirty="0"/>
              <a:t>Identify essential network components</a:t>
            </a:r>
          </a:p>
          <a:p>
            <a:r>
              <a:rPr lang="en-CA" dirty="0"/>
              <a:t>Describe the benefits of networking</a:t>
            </a:r>
          </a:p>
          <a:p>
            <a:r>
              <a:rPr lang="en-CA" dirty="0"/>
              <a:t>Describe and compare peer-to-peer and server-based networks</a:t>
            </a:r>
          </a:p>
          <a:p>
            <a:r>
              <a:rPr lang="en-CA" dirty="0"/>
              <a:t>Apply network concepts to select an appropriate network type for small business use</a:t>
            </a:r>
          </a:p>
          <a:p>
            <a:r>
              <a:rPr lang="en-CA" dirty="0"/>
              <a:t>Suggest possible redesigns for a small but expanding network</a:t>
            </a:r>
          </a:p>
          <a:p>
            <a:endParaRPr lang="en-US" dirty="0">
              <a:latin typeface="Arial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17852" y="2083"/>
            <a:ext cx="6697348" cy="627860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rgbClr val="3C3C3C"/>
                </a:solidFill>
                <a:latin typeface="Arial"/>
              </a:rPr>
              <a:t>Network Communication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sz="quarter" idx="10"/>
          </p:nvPr>
        </p:nvSpPr>
        <p:spPr>
          <a:solidFill>
            <a:srgbClr val="FFFFFF"/>
          </a:solidFill>
        </p:spPr>
        <p:txBody>
          <a:bodyPr>
            <a:normAutofit/>
          </a:bodyPr>
          <a:lstStyle/>
          <a:p>
            <a:r>
              <a:rPr lang="en-US" altLang="en-US" dirty="0"/>
              <a:t>What is a Computer Network</a:t>
            </a:r>
          </a:p>
          <a:p>
            <a:endParaRPr lang="en-US" altLang="en-US" dirty="0">
              <a:latin typeface="Arial" panose="020B0604020202020204" pitchFamily="34" charset="0"/>
            </a:endParaRPr>
          </a:p>
          <a:p>
            <a:r>
              <a:rPr lang="en-US" altLang="en-US" dirty="0"/>
              <a:t>Computer Access to a Network</a:t>
            </a:r>
          </a:p>
          <a:p>
            <a:endParaRPr lang="en-US" altLang="en-US" dirty="0"/>
          </a:p>
          <a:p>
            <a:r>
              <a:rPr lang="en-US" altLang="en-US" dirty="0"/>
              <a:t>The next few slides will cover what is required to turn a standalone computer into a networked computer</a:t>
            </a:r>
          </a:p>
        </p:txBody>
      </p:sp>
    </p:spTree>
    <p:extLst>
      <p:ext uri="{BB962C8B-B14F-4D97-AF65-F5344CB8AC3E}">
        <p14:creationId xmlns:p14="http://schemas.microsoft.com/office/powerpoint/2010/main" val="270257081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dirty="0">
                <a:solidFill>
                  <a:srgbClr val="3C3C3C"/>
                </a:solidFill>
                <a:latin typeface="Arial"/>
              </a:rPr>
              <a:t>Network Communication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sz="quarter" idx="10"/>
          </p:nvPr>
        </p:nvSpPr>
        <p:spPr>
          <a:solidFill>
            <a:srgbClr val="FFFFFF"/>
          </a:solidFill>
        </p:spPr>
        <p:txBody>
          <a:bodyPr>
            <a:normAutofit/>
          </a:bodyPr>
          <a:lstStyle/>
          <a:p>
            <a:r>
              <a:rPr lang="en-US" altLang="en-US" dirty="0"/>
              <a:t>So how is a messages sent over the network by an application</a:t>
            </a:r>
          </a:p>
          <a:p>
            <a:endParaRPr lang="en-US" dirty="0"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70257081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dirty="0">
                <a:solidFill>
                  <a:srgbClr val="3C3C3C"/>
                </a:solidFill>
                <a:latin typeface="Arial"/>
              </a:rPr>
              <a:t>Network Communication</a:t>
            </a:r>
            <a:endParaRPr lang="en-US" dirty="0"/>
          </a:p>
        </p:txBody>
      </p:sp>
      <p:pic>
        <p:nvPicPr>
          <p:cNvPr id="4" name="Content Placeholder 5" descr="Layers of the network communication process" title="Table 1-3"/>
          <p:cNvPicPr>
            <a:picLocks noGrp="1" noChangeAspect="1"/>
          </p:cNvPicPr>
          <p:nvPr>
            <p:ph sz="quarter" idx="10"/>
          </p:nvPr>
        </p:nvPicPr>
        <p:blipFill>
          <a:blip r:embed="rId2"/>
          <a:stretch>
            <a:fillRect/>
          </a:stretch>
        </p:blipFill>
        <p:spPr>
          <a:xfrm>
            <a:off x="948389" y="2148988"/>
            <a:ext cx="7494266" cy="23820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8922500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dirty="0">
                <a:solidFill>
                  <a:srgbClr val="3C3C3C"/>
                </a:solidFill>
              </a:rPr>
              <a:t>Network Components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sz="quarter" idx="10"/>
          </p:nvPr>
        </p:nvSpPr>
        <p:spPr>
          <a:solidFill>
            <a:srgbClr val="FFFFFF"/>
          </a:solidFill>
        </p:spPr>
        <p:txBody>
          <a:bodyPr>
            <a:normAutofit/>
          </a:bodyPr>
          <a:lstStyle/>
          <a:p>
            <a:r>
              <a:rPr lang="en-CA" dirty="0"/>
              <a:t>Devices on the Network</a:t>
            </a:r>
          </a:p>
          <a:p>
            <a:pPr lvl="1"/>
            <a:r>
              <a:rPr lang="en-CA" dirty="0"/>
              <a:t>Hub</a:t>
            </a:r>
          </a:p>
          <a:p>
            <a:pPr lvl="1"/>
            <a:r>
              <a:rPr lang="en-CA" dirty="0"/>
              <a:t>Switch</a:t>
            </a:r>
          </a:p>
          <a:p>
            <a:pPr lvl="1"/>
            <a:r>
              <a:rPr lang="en-CA" dirty="0"/>
              <a:t>Router</a:t>
            </a:r>
          </a:p>
          <a:p>
            <a:pPr lvl="1"/>
            <a:endParaRPr lang="en-US" dirty="0"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88922500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dirty="0">
                <a:solidFill>
                  <a:srgbClr val="3C3C3C"/>
                </a:solidFill>
                <a:latin typeface="Arial"/>
              </a:rPr>
              <a:t>Network Models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sz="quarter" idx="10"/>
          </p:nvPr>
        </p:nvSpPr>
        <p:spPr>
          <a:solidFill>
            <a:srgbClr val="FFFFFF"/>
          </a:solidFill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en-US" altLang="en-US" dirty="0"/>
              <a:t>What is a Network Model</a:t>
            </a:r>
          </a:p>
          <a:p>
            <a:pPr marL="0" indent="0">
              <a:lnSpc>
                <a:spcPct val="90000"/>
              </a:lnSpc>
              <a:buNone/>
            </a:pPr>
            <a:endParaRPr lang="en-US" altLang="en-US" dirty="0"/>
          </a:p>
          <a:p>
            <a:pPr>
              <a:lnSpc>
                <a:spcPct val="90000"/>
              </a:lnSpc>
            </a:pPr>
            <a:r>
              <a:rPr lang="en-US" altLang="en-US" dirty="0"/>
              <a:t>Two major types</a:t>
            </a:r>
          </a:p>
          <a:p>
            <a:pPr lvl="1">
              <a:lnSpc>
                <a:spcPct val="90000"/>
              </a:lnSpc>
            </a:pPr>
            <a:r>
              <a:rPr lang="en-US" altLang="en-US" dirty="0">
                <a:latin typeface="Arial" panose="020B0604020202020204" pitchFamily="34" charset="0"/>
              </a:rPr>
              <a:t>Peer-to-peer network </a:t>
            </a:r>
          </a:p>
          <a:p>
            <a:pPr lvl="1">
              <a:lnSpc>
                <a:spcPct val="90000"/>
              </a:lnSpc>
            </a:pPr>
            <a:r>
              <a:rPr lang="en-US" altLang="en-US" dirty="0">
                <a:latin typeface="Arial" panose="020B0604020202020204" pitchFamily="34" charset="0"/>
              </a:rPr>
              <a:t>Server-based network</a:t>
            </a:r>
            <a:endParaRPr lang="en-US" dirty="0"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88922500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dirty="0">
                <a:solidFill>
                  <a:srgbClr val="3C3C3C"/>
                </a:solidFill>
                <a:latin typeface="Arial"/>
              </a:rPr>
              <a:t>Benefits of Networking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sz="quarter" idx="10"/>
          </p:nvPr>
        </p:nvSpPr>
        <p:spPr>
          <a:solidFill>
            <a:srgbClr val="FFFFFF"/>
          </a:solidFill>
        </p:spPr>
        <p:txBody>
          <a:bodyPr>
            <a:normAutofit/>
          </a:bodyPr>
          <a:lstStyle/>
          <a:p>
            <a:r>
              <a:rPr lang="en-US" dirty="0">
                <a:latin typeface="Arial"/>
              </a:rPr>
              <a:t>What is Shared resource?  </a:t>
            </a:r>
          </a:p>
          <a:p>
            <a:r>
              <a:rPr lang="en-US" dirty="0">
                <a:latin typeface="Arial"/>
              </a:rPr>
              <a:t>What is the importance?	</a:t>
            </a:r>
          </a:p>
          <a:p>
            <a:pPr marL="0" indent="0">
              <a:buNone/>
            </a:pPr>
            <a:endParaRPr lang="en-US" dirty="0"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88922500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dirty="0">
                <a:solidFill>
                  <a:srgbClr val="3C3C3C"/>
                </a:solidFill>
                <a:latin typeface="Arial"/>
              </a:rPr>
              <a:t>Network redesign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sz="quarter" idx="10"/>
          </p:nvPr>
        </p:nvSpPr>
        <p:spPr>
          <a:solidFill>
            <a:srgbClr val="FFFFFF"/>
          </a:solidFill>
        </p:spPr>
        <p:txBody>
          <a:bodyPr>
            <a:normAutofit/>
          </a:bodyPr>
          <a:lstStyle/>
          <a:p>
            <a:pPr marL="0" indent="0">
              <a:buNone/>
            </a:pPr>
            <a:endParaRPr lang="en-US" dirty="0">
              <a:latin typeface="Arial"/>
            </a:endParaRPr>
          </a:p>
          <a:p>
            <a:pPr marL="0" indent="0">
              <a:buNone/>
            </a:pPr>
            <a:r>
              <a:rPr lang="en-US" dirty="0">
                <a:latin typeface="Arial"/>
              </a:rPr>
              <a:t>In groups, take the small business network topology and expand it to support a medium sized business.  You can use the internet to come up with some ideas!</a:t>
            </a:r>
          </a:p>
        </p:txBody>
      </p:sp>
    </p:spTree>
    <p:extLst>
      <p:ext uri="{BB962C8B-B14F-4D97-AF65-F5344CB8AC3E}">
        <p14:creationId xmlns:p14="http://schemas.microsoft.com/office/powerpoint/2010/main" val="388922500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dirty="0">
                <a:solidFill>
                  <a:srgbClr val="3C3C3C"/>
                </a:solidFill>
                <a:latin typeface="Arial"/>
              </a:rPr>
              <a:t>Network redesign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sz="quarter" idx="10"/>
          </p:nvPr>
        </p:nvSpPr>
        <p:spPr>
          <a:solidFill>
            <a:srgbClr val="FFFFFF"/>
          </a:solidFill>
        </p:spPr>
        <p:txBody>
          <a:bodyPr>
            <a:noAutofit/>
          </a:bodyPr>
          <a:lstStyle/>
          <a:p>
            <a:r>
              <a:rPr lang="en-US" dirty="0">
                <a:latin typeface="Arial"/>
              </a:rPr>
              <a:t>What should be considered when designing a Network</a:t>
            </a:r>
          </a:p>
          <a:p>
            <a:pPr marL="342900" lvl="1" indent="0">
              <a:buNone/>
            </a:pPr>
            <a:endParaRPr lang="en-US" sz="2800" dirty="0">
              <a:latin typeface="Arial"/>
            </a:endParaRPr>
          </a:p>
          <a:p>
            <a:pPr marL="0" indent="0">
              <a:buNone/>
            </a:pPr>
            <a:endParaRPr lang="en-CA" dirty="0"/>
          </a:p>
          <a:p>
            <a:r>
              <a:rPr lang="en-CA" dirty="0"/>
              <a:t>Importance of;</a:t>
            </a:r>
          </a:p>
          <a:p>
            <a:pPr lvl="1"/>
            <a:r>
              <a:rPr lang="en-CA" dirty="0"/>
              <a:t>Scalability</a:t>
            </a:r>
          </a:p>
          <a:p>
            <a:pPr lvl="1"/>
            <a:r>
              <a:rPr lang="en-CA" dirty="0"/>
              <a:t>Availability</a:t>
            </a:r>
          </a:p>
          <a:p>
            <a:pPr lvl="1"/>
            <a:r>
              <a:rPr lang="en-CA" dirty="0"/>
              <a:t>Security</a:t>
            </a:r>
          </a:p>
        </p:txBody>
      </p:sp>
    </p:spTree>
    <p:extLst>
      <p:ext uri="{BB962C8B-B14F-4D97-AF65-F5344CB8AC3E}">
        <p14:creationId xmlns:p14="http://schemas.microsoft.com/office/powerpoint/2010/main" val="388922500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dirty="0">
                <a:solidFill>
                  <a:srgbClr val="3C3C3C"/>
                </a:solidFill>
                <a:latin typeface="Arial"/>
              </a:rPr>
              <a:t>Module 2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sz="quarter" idx="10"/>
          </p:nvPr>
        </p:nvSpPr>
        <p:spPr>
          <a:solidFill>
            <a:srgbClr val="FFFFFF"/>
          </a:solidFill>
        </p:spPr>
        <p:txBody>
          <a:bodyPr>
            <a:noAutofit/>
          </a:bodyPr>
          <a:lstStyle/>
          <a:p>
            <a:pPr marL="0" indent="0" algn="ctr">
              <a:buNone/>
            </a:pPr>
            <a:endParaRPr lang="en-CA" sz="6600" dirty="0"/>
          </a:p>
          <a:p>
            <a:pPr marL="0" indent="0" algn="ctr">
              <a:buNone/>
            </a:pPr>
            <a:r>
              <a:rPr lang="en-CA" sz="6600" dirty="0"/>
              <a:t>Design and Topologies</a:t>
            </a:r>
          </a:p>
          <a:p>
            <a:pPr marL="0" indent="0" algn="ctr">
              <a:buNone/>
            </a:pPr>
            <a:endParaRPr lang="en-CA" sz="6600" dirty="0">
              <a:latin typeface="Arial"/>
            </a:endParaRPr>
          </a:p>
          <a:p>
            <a:pPr marL="0" indent="0" algn="ctr">
              <a:buNone/>
            </a:pPr>
            <a:endParaRPr lang="en-US" sz="6600" dirty="0"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88922500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dirty="0">
                <a:solidFill>
                  <a:srgbClr val="3C3C3C"/>
                </a:solidFill>
                <a:latin typeface="Arial"/>
              </a:rPr>
              <a:t>Lesson Objectives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sz="quarter" idx="10"/>
          </p:nvPr>
        </p:nvSpPr>
        <p:spPr>
          <a:solidFill>
            <a:srgbClr val="FFFFFF"/>
          </a:solidFill>
        </p:spPr>
        <p:txBody>
          <a:bodyPr>
            <a:normAutofit/>
          </a:bodyPr>
          <a:lstStyle/>
          <a:p>
            <a:r>
              <a:rPr lang="en-CA" dirty="0"/>
              <a:t>Describe the various networking topologies.</a:t>
            </a:r>
          </a:p>
          <a:p>
            <a:r>
              <a:rPr lang="en-CA" dirty="0"/>
              <a:t>Integrate hubs and switches into a network.</a:t>
            </a:r>
          </a:p>
          <a:p>
            <a:r>
              <a:rPr lang="en-CA" dirty="0"/>
              <a:t>Explain the variations of the standard networking topologies.</a:t>
            </a:r>
          </a:p>
          <a:p>
            <a:r>
              <a:rPr lang="en-CA" dirty="0"/>
              <a:t>Select the best network topology for an environment.</a:t>
            </a:r>
          </a:p>
          <a:p>
            <a:endParaRPr lang="en-US" baseline="-25000" dirty="0"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88922500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dirty="0">
                <a:solidFill>
                  <a:srgbClr val="3C3C3C"/>
                </a:solidFill>
                <a:latin typeface="Arial"/>
              </a:rPr>
              <a:t>Design and Topology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sz="quarter" idx="10"/>
          </p:nvPr>
        </p:nvSpPr>
        <p:spPr>
          <a:solidFill>
            <a:srgbClr val="FFFFFF"/>
          </a:solidFill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>
                <a:latin typeface="Arial"/>
              </a:rPr>
              <a:t>Network topology/Layout</a:t>
            </a:r>
          </a:p>
          <a:p>
            <a:pPr marL="0" indent="0">
              <a:buNone/>
            </a:pPr>
            <a:endParaRPr lang="en-US" dirty="0">
              <a:latin typeface="Arial"/>
            </a:endParaRP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8200" y="1860550"/>
            <a:ext cx="7467600" cy="3848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88922500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dirty="0">
                <a:solidFill>
                  <a:srgbClr val="3C3C3C"/>
                </a:solidFill>
                <a:latin typeface="Arial"/>
              </a:rPr>
              <a:t>Physical Network Topology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sz="quarter" idx="10"/>
          </p:nvPr>
        </p:nvSpPr>
        <p:spPr>
          <a:solidFill>
            <a:srgbClr val="FFFFFF"/>
          </a:solidFill>
        </p:spPr>
        <p:txBody>
          <a:bodyPr>
            <a:normAutofit/>
          </a:bodyPr>
          <a:lstStyle/>
          <a:p>
            <a:r>
              <a:rPr lang="en-US" dirty="0"/>
              <a:t>What is a Topology?</a:t>
            </a:r>
          </a:p>
          <a:p>
            <a:endParaRPr lang="en-US" dirty="0"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88922500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dirty="0">
                <a:solidFill>
                  <a:srgbClr val="3C3C3C"/>
                </a:solidFill>
                <a:latin typeface="Arial"/>
              </a:rPr>
              <a:t>Physical Bus Topology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sz="quarter" idx="10"/>
          </p:nvPr>
        </p:nvSpPr>
        <p:spPr>
          <a:solidFill>
            <a:srgbClr val="FFFFFF"/>
          </a:solidFill>
        </p:spPr>
        <p:txBody>
          <a:bodyPr>
            <a:normAutofit/>
          </a:bodyPr>
          <a:lstStyle/>
          <a:p>
            <a:r>
              <a:rPr lang="en-US" dirty="0"/>
              <a:t>What do you think a Physical bus topology 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r>
              <a:rPr lang="en-US" dirty="0"/>
              <a:t>Is there any Weaknesses?</a:t>
            </a:r>
          </a:p>
          <a:p>
            <a:endParaRPr lang="en-US" dirty="0"/>
          </a:p>
          <a:p>
            <a:endParaRPr lang="en-US" dirty="0"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88922500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dirty="0">
                <a:solidFill>
                  <a:srgbClr val="3C3C3C"/>
                </a:solidFill>
                <a:latin typeface="Arial"/>
              </a:rPr>
              <a:t>Physical Star Topology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sz="quarter" idx="10"/>
          </p:nvPr>
        </p:nvSpPr>
        <p:spPr>
          <a:solidFill>
            <a:srgbClr val="FFFFFF"/>
          </a:solidFill>
        </p:spPr>
        <p:txBody>
          <a:bodyPr>
            <a:normAutofit/>
          </a:bodyPr>
          <a:lstStyle/>
          <a:p>
            <a:r>
              <a:rPr lang="en-US" dirty="0"/>
              <a:t>What is a Star Topology</a:t>
            </a:r>
          </a:p>
          <a:p>
            <a:endParaRPr lang="en-US" dirty="0"/>
          </a:p>
          <a:p>
            <a:r>
              <a:rPr lang="en-US" dirty="0"/>
              <a:t>Are there any Advantages:</a:t>
            </a:r>
          </a:p>
          <a:p>
            <a:endParaRPr lang="en-US" dirty="0"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88922500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dirty="0">
                <a:solidFill>
                  <a:srgbClr val="3C3C3C"/>
                </a:solidFill>
                <a:latin typeface="Arial"/>
              </a:rPr>
              <a:t>Extended Star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sz="quarter" idx="10"/>
          </p:nvPr>
        </p:nvSpPr>
        <p:spPr>
          <a:solidFill>
            <a:srgbClr val="FFFFFF"/>
          </a:solidFill>
        </p:spPr>
        <p:txBody>
          <a:bodyPr>
            <a:normAutofit/>
          </a:bodyPr>
          <a:lstStyle/>
          <a:p>
            <a:r>
              <a:rPr lang="en-US" dirty="0"/>
              <a:t>How about an Extended Star. Is this the same as a Star topology?</a:t>
            </a:r>
          </a:p>
        </p:txBody>
      </p:sp>
    </p:spTree>
    <p:extLst>
      <p:ext uri="{BB962C8B-B14F-4D97-AF65-F5344CB8AC3E}">
        <p14:creationId xmlns:p14="http://schemas.microsoft.com/office/powerpoint/2010/main" val="388922500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dirty="0">
                <a:solidFill>
                  <a:srgbClr val="3C3C3C"/>
                </a:solidFill>
                <a:latin typeface="Arial"/>
              </a:rPr>
              <a:t>Ring Topology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sz="quarter" idx="10"/>
          </p:nvPr>
        </p:nvSpPr>
        <p:spPr>
          <a:solidFill>
            <a:srgbClr val="FFFFFF"/>
          </a:solidFill>
        </p:spPr>
        <p:txBody>
          <a:bodyPr>
            <a:normAutofit/>
          </a:bodyPr>
          <a:lstStyle/>
          <a:p>
            <a:r>
              <a:rPr lang="en-US" sz="2400" dirty="0"/>
              <a:t>Is a Ring topology similar to Bus or Star</a:t>
            </a:r>
            <a:endParaRPr lang="en-US" dirty="0">
              <a:latin typeface="Arial" panose="020B0604020202020204" pitchFamily="34" charset="0"/>
            </a:endParaRPr>
          </a:p>
          <a:p>
            <a:pPr lvl="1"/>
            <a:endParaRPr lang="en-US" dirty="0">
              <a:latin typeface="Arial" panose="020B0604020202020204" pitchFamily="34" charset="0"/>
            </a:endParaRPr>
          </a:p>
          <a:p>
            <a:r>
              <a:rPr lang="en-US" dirty="0">
                <a:latin typeface="Arial" panose="020B0604020202020204" pitchFamily="34" charset="0"/>
              </a:rPr>
              <a:t>How do devices communicate on a Tok</a:t>
            </a:r>
            <a:r>
              <a:rPr lang="en-US" dirty="0"/>
              <a:t>en Ring network?</a:t>
            </a:r>
            <a:endParaRPr lang="en-US" dirty="0">
              <a:latin typeface="Arial" panose="020B0604020202020204" pitchFamily="34" charset="0"/>
            </a:endParaRPr>
          </a:p>
          <a:p>
            <a:endParaRPr lang="en-US" dirty="0"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88922500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dirty="0">
                <a:solidFill>
                  <a:srgbClr val="3C3C3C"/>
                </a:solidFill>
              </a:rPr>
              <a:t>Hybrid/Mesh Topology	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sz="quarter" idx="10"/>
          </p:nvPr>
        </p:nvSpPr>
        <p:spPr>
          <a:solidFill>
            <a:srgbClr val="FFFFFF"/>
          </a:solidFill>
        </p:spPr>
        <p:txBody>
          <a:bodyPr>
            <a:normAutofit/>
          </a:bodyPr>
          <a:lstStyle/>
          <a:p>
            <a:r>
              <a:rPr lang="en-US" dirty="0">
                <a:latin typeface="Arial"/>
              </a:rPr>
              <a:t>Hybrid</a:t>
            </a:r>
          </a:p>
          <a:p>
            <a:pPr lvl="1"/>
            <a:r>
              <a:rPr lang="en-US" dirty="0">
                <a:latin typeface="Arial"/>
              </a:rPr>
              <a:t>Uses star and ring or any combination</a:t>
            </a:r>
          </a:p>
          <a:p>
            <a:r>
              <a:rPr lang="en-US" dirty="0">
                <a:latin typeface="Arial"/>
              </a:rPr>
              <a:t>Mesh topology is great as there is no single point of failure</a:t>
            </a:r>
          </a:p>
          <a:p>
            <a:endParaRPr lang="en-US" dirty="0">
              <a:latin typeface="Arial"/>
            </a:endParaRPr>
          </a:p>
          <a:p>
            <a:endParaRPr lang="en-US" dirty="0">
              <a:latin typeface="Arial"/>
            </a:endParaRPr>
          </a:p>
          <a:p>
            <a:endParaRPr lang="en-US" dirty="0">
              <a:latin typeface="Arial"/>
            </a:endParaRPr>
          </a:p>
        </p:txBody>
      </p:sp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32500" y="2978754"/>
            <a:ext cx="3228359" cy="323701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88922500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dirty="0">
                <a:solidFill>
                  <a:srgbClr val="3C3C3C"/>
                </a:solidFill>
              </a:rPr>
              <a:t>Tree Topology	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sz="quarter" idx="10"/>
          </p:nvPr>
        </p:nvSpPr>
        <p:spPr>
          <a:solidFill>
            <a:srgbClr val="FFFFFF"/>
          </a:solidFill>
        </p:spPr>
        <p:txBody>
          <a:bodyPr>
            <a:normAutofit/>
          </a:bodyPr>
          <a:lstStyle/>
          <a:p>
            <a:endParaRPr lang="en-US" dirty="0">
              <a:latin typeface="Arial"/>
            </a:endParaRPr>
          </a:p>
          <a:p>
            <a:endParaRPr lang="en-US" dirty="0">
              <a:latin typeface="Arial"/>
            </a:endParaRPr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7713" y="1495425"/>
            <a:ext cx="7648575" cy="3867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64250439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dirty="0">
                <a:solidFill>
                  <a:srgbClr val="3C3C3C"/>
                </a:solidFill>
                <a:latin typeface="Arial"/>
              </a:rPr>
              <a:t>Module 3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sz="quarter" idx="10"/>
          </p:nvPr>
        </p:nvSpPr>
        <p:spPr>
          <a:solidFill>
            <a:srgbClr val="FFFFFF"/>
          </a:solidFill>
        </p:spPr>
        <p:txBody>
          <a:bodyPr>
            <a:normAutofit/>
          </a:bodyPr>
          <a:lstStyle/>
          <a:p>
            <a:pPr marL="0" indent="0" algn="ctr">
              <a:buNone/>
            </a:pPr>
            <a:endParaRPr lang="en-US" dirty="0">
              <a:latin typeface="Arial"/>
            </a:endParaRPr>
          </a:p>
          <a:p>
            <a:pPr marL="0" indent="0" algn="ctr">
              <a:buNone/>
            </a:pPr>
            <a:endParaRPr lang="en-US" dirty="0">
              <a:latin typeface="Arial"/>
            </a:endParaRPr>
          </a:p>
          <a:p>
            <a:pPr marL="0" indent="0" algn="ctr">
              <a:buNone/>
            </a:pPr>
            <a:endParaRPr lang="en-US" dirty="0">
              <a:latin typeface="Arial"/>
            </a:endParaRPr>
          </a:p>
          <a:p>
            <a:pPr marL="0" indent="0" algn="ctr">
              <a:buNone/>
            </a:pPr>
            <a:r>
              <a:rPr lang="en-US" sz="6600" dirty="0">
                <a:latin typeface="Arial"/>
              </a:rPr>
              <a:t>Cables and signals</a:t>
            </a:r>
          </a:p>
        </p:txBody>
      </p:sp>
    </p:spTree>
    <p:extLst>
      <p:ext uri="{BB962C8B-B14F-4D97-AF65-F5344CB8AC3E}">
        <p14:creationId xmlns:p14="http://schemas.microsoft.com/office/powerpoint/2010/main" val="242071060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dirty="0">
                <a:solidFill>
                  <a:srgbClr val="3C3C3C"/>
                </a:solidFill>
                <a:latin typeface="Arial"/>
              </a:rPr>
              <a:t>Lesson Objectives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sz="quarter" idx="10"/>
          </p:nvPr>
        </p:nvSpPr>
        <p:spPr>
          <a:solidFill>
            <a:srgbClr val="FFFFFF"/>
          </a:solidFill>
        </p:spPr>
        <p:txBody>
          <a:bodyPr>
            <a:normAutofit fontScale="92500" lnSpcReduction="20000"/>
          </a:bodyPr>
          <a:lstStyle/>
          <a:p>
            <a:r>
              <a:rPr lang="en-CA" dirty="0"/>
              <a:t>Describe typical signal techniques, and how network media ferry signals between computers.</a:t>
            </a:r>
          </a:p>
          <a:p>
            <a:r>
              <a:rPr lang="en-CA" dirty="0"/>
              <a:t>Define the terms related to cabling, including attenuation, cross talk, shielding and plenum.</a:t>
            </a:r>
          </a:p>
          <a:p>
            <a:r>
              <a:rPr lang="en-CA" dirty="0"/>
              <a:t>Identify the major types of network cabling and wireless network technologies.</a:t>
            </a:r>
          </a:p>
          <a:p>
            <a:r>
              <a:rPr lang="en-CA" dirty="0"/>
              <a:t>Explain baseband and broadband transmission technologies, and their uses.</a:t>
            </a:r>
          </a:p>
          <a:p>
            <a:r>
              <a:rPr lang="en-CA" dirty="0"/>
              <a:t>Describe wireless transmission techniques.</a:t>
            </a:r>
          </a:p>
          <a:p>
            <a:r>
              <a:rPr lang="en-CA" dirty="0"/>
              <a:t>Describe transmission technologies used for mobile computing.</a:t>
            </a:r>
          </a:p>
          <a:p>
            <a:r>
              <a:rPr lang="en-CA" dirty="0"/>
              <a:t>Determine appropriate cabling and connections for different networking environments.</a:t>
            </a:r>
          </a:p>
          <a:p>
            <a:endParaRPr lang="en-US" dirty="0"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05108388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dirty="0">
                <a:solidFill>
                  <a:srgbClr val="3C3C3C"/>
                </a:solidFill>
                <a:latin typeface="Arial"/>
              </a:rPr>
              <a:t>Signaling	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sz="quarter" idx="10"/>
          </p:nvPr>
        </p:nvSpPr>
        <p:spPr>
          <a:solidFill>
            <a:srgbClr val="FFFFFF"/>
          </a:solidFill>
        </p:spPr>
        <p:txBody>
          <a:bodyPr>
            <a:normAutofit/>
          </a:bodyPr>
          <a:lstStyle/>
          <a:p>
            <a:r>
              <a:rPr lang="en-US" dirty="0">
                <a:latin typeface="Arial"/>
              </a:rPr>
              <a:t>So how is communication achieved</a:t>
            </a:r>
          </a:p>
          <a:p>
            <a:r>
              <a:rPr lang="en-US" sz="2400" dirty="0"/>
              <a:t>Network technologies can use media to transmit signals in two main ways</a:t>
            </a:r>
          </a:p>
          <a:p>
            <a:r>
              <a:rPr lang="en-US" sz="2400" dirty="0"/>
              <a:t>Baseband </a:t>
            </a:r>
          </a:p>
          <a:p>
            <a:r>
              <a:rPr lang="en-US" sz="2400" dirty="0"/>
              <a:t>Broadband </a:t>
            </a:r>
          </a:p>
          <a:p>
            <a:endParaRPr lang="en-US" dirty="0"/>
          </a:p>
          <a:p>
            <a:r>
              <a:rPr lang="en-US" dirty="0"/>
              <a:t>Signal strength is referred to as Attenuation.  So how is this issue mitigated</a:t>
            </a:r>
          </a:p>
          <a:p>
            <a:endParaRPr lang="en-US" dirty="0"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889225006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dirty="0">
                <a:solidFill>
                  <a:srgbClr val="3C3C3C"/>
                </a:solidFill>
              </a:rPr>
              <a:t>Signals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sz="quarter" idx="10"/>
          </p:nvPr>
        </p:nvSpPr>
        <p:spPr>
          <a:solidFill>
            <a:srgbClr val="FFFFFF"/>
          </a:solidFill>
        </p:spPr>
        <p:txBody>
          <a:bodyPr>
            <a:normAutofit/>
          </a:bodyPr>
          <a:lstStyle/>
          <a:p>
            <a:r>
              <a:rPr lang="en-US" dirty="0">
                <a:latin typeface="Arial"/>
              </a:rPr>
              <a:t>Cross talk </a:t>
            </a:r>
          </a:p>
          <a:p>
            <a:pPr lvl="1"/>
            <a:r>
              <a:rPr lang="en-CA" dirty="0"/>
              <a:t>one circuit creates an undesired effect in another circuit or channel</a:t>
            </a:r>
          </a:p>
          <a:p>
            <a:r>
              <a:rPr lang="en-CA" dirty="0">
                <a:latin typeface="Arial"/>
              </a:rPr>
              <a:t>How to fix </a:t>
            </a:r>
          </a:p>
          <a:p>
            <a:pPr lvl="1"/>
            <a:r>
              <a:rPr lang="en-CA" dirty="0">
                <a:latin typeface="Arial"/>
              </a:rPr>
              <a:t>Terminate correctly</a:t>
            </a:r>
          </a:p>
        </p:txBody>
      </p:sp>
    </p:spTree>
    <p:extLst>
      <p:ext uri="{BB962C8B-B14F-4D97-AF65-F5344CB8AC3E}">
        <p14:creationId xmlns:p14="http://schemas.microsoft.com/office/powerpoint/2010/main" val="3889225006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dirty="0">
                <a:solidFill>
                  <a:srgbClr val="3C3C3C"/>
                </a:solidFill>
              </a:rPr>
              <a:t>Cabling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sz="quarter" idx="10"/>
          </p:nvPr>
        </p:nvSpPr>
        <p:spPr>
          <a:solidFill>
            <a:srgbClr val="FFFFFF"/>
          </a:solidFill>
        </p:spPr>
        <p:txBody>
          <a:bodyPr>
            <a:normAutofit/>
          </a:bodyPr>
          <a:lstStyle/>
          <a:p>
            <a:r>
              <a:rPr lang="en-US" sz="2400" b="1" dirty="0"/>
              <a:t>Unshielded Twisted pair (UTP) </a:t>
            </a:r>
          </a:p>
          <a:p>
            <a:endParaRPr lang="en-US" sz="2400" b="1" dirty="0"/>
          </a:p>
          <a:p>
            <a:endParaRPr lang="en-US" sz="2400" b="1" dirty="0"/>
          </a:p>
          <a:p>
            <a:pPr marL="0" indent="0">
              <a:buNone/>
            </a:pPr>
            <a:endParaRPr lang="en-US" sz="2400" b="1" dirty="0"/>
          </a:p>
          <a:p>
            <a:endParaRPr lang="en-US" sz="2400" b="1" dirty="0"/>
          </a:p>
          <a:p>
            <a:r>
              <a:rPr lang="en-US" sz="2400" b="1" dirty="0"/>
              <a:t>Fiber-optic cabling </a:t>
            </a:r>
          </a:p>
          <a:p>
            <a:endParaRPr lang="en-US" sz="2400" b="1" dirty="0"/>
          </a:p>
          <a:p>
            <a:endParaRPr lang="en-US" dirty="0">
              <a:latin typeface="Arial"/>
            </a:endParaRPr>
          </a:p>
        </p:txBody>
      </p:sp>
      <p:pic>
        <p:nvPicPr>
          <p:cNvPr id="4" name="Picture 3" descr="UTP cabling" title="Figure 3-1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52934" y="1782170"/>
            <a:ext cx="2740479" cy="1509586"/>
          </a:xfrm>
          <a:prstGeom prst="rect">
            <a:avLst/>
          </a:prstGeom>
        </p:spPr>
      </p:pic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79551" y="4026089"/>
            <a:ext cx="1851199" cy="158022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889225006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dirty="0">
                <a:solidFill>
                  <a:srgbClr val="3C3C3C"/>
                </a:solidFill>
              </a:rPr>
              <a:t>Cabling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sz="quarter" idx="10"/>
          </p:nvPr>
        </p:nvSpPr>
        <p:spPr>
          <a:solidFill>
            <a:srgbClr val="FFFFFF"/>
          </a:solidFill>
        </p:spPr>
        <p:txBody>
          <a:bodyPr>
            <a:normAutofit/>
          </a:bodyPr>
          <a:lstStyle/>
          <a:p>
            <a:r>
              <a:rPr lang="en-US" sz="2400" b="1" dirty="0"/>
              <a:t>Coaxial cable</a:t>
            </a:r>
          </a:p>
          <a:p>
            <a:endParaRPr lang="en-US" sz="2400" b="1" dirty="0"/>
          </a:p>
          <a:p>
            <a:pPr marL="0" indent="0">
              <a:buNone/>
            </a:pPr>
            <a:endParaRPr lang="en-US" sz="2400" b="1" dirty="0"/>
          </a:p>
          <a:p>
            <a:endParaRPr lang="en-US" sz="2400" b="1" dirty="0"/>
          </a:p>
          <a:p>
            <a:endParaRPr lang="en-US" sz="2400" b="1" dirty="0"/>
          </a:p>
          <a:p>
            <a:r>
              <a:rPr lang="en-US" sz="2400" b="1" dirty="0"/>
              <a:t>STP</a:t>
            </a:r>
          </a:p>
          <a:p>
            <a:endParaRPr lang="en-US" sz="2400" b="1" dirty="0"/>
          </a:p>
          <a:p>
            <a:endParaRPr lang="en-US" sz="2400" b="1" dirty="0"/>
          </a:p>
          <a:p>
            <a:endParaRPr lang="en-US" dirty="0">
              <a:latin typeface="Arial"/>
            </a:endParaRPr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80756" y="1628279"/>
            <a:ext cx="2205393" cy="149276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051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43013" y="4032060"/>
            <a:ext cx="2219325" cy="1714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622738190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dirty="0">
                <a:solidFill>
                  <a:srgbClr val="3C3C3C"/>
                </a:solidFill>
              </a:rPr>
              <a:t>C</a:t>
            </a:r>
            <a:r>
              <a:rPr lang="en-US" dirty="0">
                <a:solidFill>
                  <a:srgbClr val="3C3C3C"/>
                </a:solidFill>
                <a:latin typeface="Arial"/>
              </a:rPr>
              <a:t>abling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sz="quarter" idx="10"/>
          </p:nvPr>
        </p:nvSpPr>
        <p:spPr>
          <a:solidFill>
            <a:srgbClr val="FFFFFF"/>
          </a:solidFill>
        </p:spPr>
        <p:txBody>
          <a:bodyPr>
            <a:normAutofit/>
          </a:bodyPr>
          <a:lstStyle/>
          <a:p>
            <a:r>
              <a:rPr lang="en-US" b="1" dirty="0"/>
              <a:t>Ethernet</a:t>
            </a:r>
            <a:r>
              <a:rPr lang="en-US" dirty="0"/>
              <a:t> is the most popular LAN technology</a:t>
            </a:r>
          </a:p>
          <a:p>
            <a:pPr lvl="1"/>
            <a:r>
              <a:rPr lang="en-US" dirty="0">
                <a:latin typeface="Arial" panose="020B0604020202020204" pitchFamily="34" charset="0"/>
              </a:rPr>
              <a:t>Easy to install and support with a low cost factor</a:t>
            </a:r>
          </a:p>
          <a:p>
            <a:endParaRPr lang="en-US" dirty="0"/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56743" y="3169835"/>
            <a:ext cx="2047875" cy="1924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889225006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US" dirty="0">
                <a:solidFill>
                  <a:srgbClr val="3C3C3C"/>
                </a:solidFill>
              </a:rPr>
              <a:t>Network Standards</a:t>
            </a:r>
            <a:br>
              <a:rPr lang="en-US" dirty="0">
                <a:solidFill>
                  <a:srgbClr val="3C3C3C"/>
                </a:solidFill>
              </a:rPr>
            </a:br>
            <a:endParaRPr lang="en-US" dirty="0"/>
          </a:p>
        </p:txBody>
      </p:sp>
      <p:pic>
        <p:nvPicPr>
          <p:cNvPr id="4" name="Content Placeholder 5" descr="Ethernet standards and properties" title="Table 3-3"/>
          <p:cNvPicPr>
            <a:picLocks noGrp="1" noChangeAspect="1"/>
          </p:cNvPicPr>
          <p:nvPr>
            <p:ph sz="quarter" idx="10"/>
          </p:nvPr>
        </p:nvPicPr>
        <p:blipFill>
          <a:blip r:embed="rId2"/>
          <a:stretch>
            <a:fillRect/>
          </a:stretch>
        </p:blipFill>
        <p:spPr>
          <a:xfrm>
            <a:off x="2405856" y="1677194"/>
            <a:ext cx="4298950" cy="41084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89225006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dirty="0">
                <a:solidFill>
                  <a:srgbClr val="3C3C3C"/>
                </a:solidFill>
                <a:latin typeface="Arial"/>
              </a:rPr>
              <a:t>Network Standards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sz="quarter" idx="10"/>
          </p:nvPr>
        </p:nvSpPr>
        <p:spPr>
          <a:solidFill>
            <a:srgbClr val="FFFFFF"/>
          </a:solidFill>
        </p:spPr>
        <p:txBody>
          <a:bodyPr>
            <a:normAutofit/>
          </a:bodyPr>
          <a:lstStyle/>
          <a:p>
            <a:pPr marL="411163"/>
            <a:r>
              <a:rPr lang="en-US" dirty="0"/>
              <a:t>Ethernet standards expressed as:</a:t>
            </a:r>
          </a:p>
          <a:p>
            <a:pPr marL="739775" lvl="1"/>
            <a:r>
              <a:rPr lang="en-US" dirty="0" err="1">
                <a:latin typeface="Arial" panose="020B0604020202020204" pitchFamily="34" charset="0"/>
              </a:rPr>
              <a:t>XBaseY</a:t>
            </a:r>
            <a:r>
              <a:rPr lang="en-US" dirty="0">
                <a:latin typeface="Arial" panose="020B0604020202020204" pitchFamily="34" charset="0"/>
              </a:rPr>
              <a:t> – 10Base2, 10BaseT, 100BaseT, 100BaseFX</a:t>
            </a:r>
          </a:p>
          <a:p>
            <a:pPr marL="0" indent="0">
              <a:buNone/>
            </a:pPr>
            <a:endParaRPr lang="en-US" dirty="0"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889225006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dirty="0">
                <a:solidFill>
                  <a:srgbClr val="3C3C3C"/>
                </a:solidFill>
              </a:rPr>
              <a:t>Network Standards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sz="quarter" idx="10"/>
          </p:nvPr>
        </p:nvSpPr>
        <p:spPr>
          <a:solidFill>
            <a:srgbClr val="FFFFFF"/>
          </a:solidFill>
        </p:spPr>
        <p:txBody>
          <a:bodyPr>
            <a:normAutofit/>
          </a:bodyPr>
          <a:lstStyle/>
          <a:p>
            <a:r>
              <a:rPr lang="en-US" dirty="0"/>
              <a:t>The 802.11 wireless networking standard is also referred to as </a:t>
            </a:r>
            <a:r>
              <a:rPr lang="en-US" b="1" dirty="0"/>
              <a:t>Wireless Fidelity (Wi-Fi)</a:t>
            </a:r>
          </a:p>
          <a:p>
            <a:pPr lvl="1"/>
            <a:r>
              <a:rPr lang="en-US" dirty="0"/>
              <a:t>802.11 is essentially an extension to Ethernet</a:t>
            </a:r>
          </a:p>
          <a:p>
            <a:pPr lvl="1"/>
            <a:r>
              <a:rPr lang="en-US" dirty="0"/>
              <a:t>Using airwaves instead of cabling as the medium</a:t>
            </a:r>
          </a:p>
          <a:p>
            <a:endParaRPr lang="en-US" dirty="0"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889225006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dirty="0">
                <a:solidFill>
                  <a:srgbClr val="3C3C3C"/>
                </a:solidFill>
              </a:rPr>
              <a:t>Network Standards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sz="quarter" idx="10"/>
          </p:nvPr>
        </p:nvSpPr>
        <p:spPr>
          <a:solidFill>
            <a:srgbClr val="FFFFFF"/>
          </a:solidFill>
        </p:spPr>
        <p:txBody>
          <a:bodyPr>
            <a:normAutofit/>
          </a:bodyPr>
          <a:lstStyle/>
          <a:p>
            <a:r>
              <a:rPr lang="en-US" dirty="0"/>
              <a:t>Wi-Fi can operate in one of two modes</a:t>
            </a:r>
          </a:p>
          <a:p>
            <a:pPr lvl="1"/>
            <a:r>
              <a:rPr lang="en-US" dirty="0">
                <a:latin typeface="Arial" panose="020B0604020202020204" pitchFamily="34" charset="0"/>
              </a:rPr>
              <a:t>Infrastructure</a:t>
            </a:r>
          </a:p>
          <a:p>
            <a:pPr lvl="1"/>
            <a:r>
              <a:rPr lang="en-US" dirty="0">
                <a:latin typeface="Arial" panose="020B0604020202020204" pitchFamily="34" charset="0"/>
              </a:rPr>
              <a:t>Ad hoc</a:t>
            </a:r>
          </a:p>
          <a:p>
            <a:r>
              <a:rPr lang="en-US" dirty="0"/>
              <a:t>Most of this chapter’s discussion of Wi-Fi focuses on infrastructure mode</a:t>
            </a:r>
          </a:p>
          <a:p>
            <a:endParaRPr lang="en-US" dirty="0"/>
          </a:p>
          <a:p>
            <a:endParaRPr lang="en-US" dirty="0"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889225006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dirty="0">
                <a:solidFill>
                  <a:srgbClr val="3C3C3C"/>
                </a:solidFill>
              </a:rPr>
              <a:t>Network Standards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sz="quarter" idx="10"/>
          </p:nvPr>
        </p:nvSpPr>
        <p:spPr>
          <a:solidFill>
            <a:srgbClr val="FFFFFF"/>
          </a:solidFill>
        </p:spPr>
        <p:txBody>
          <a:bodyPr>
            <a:normAutofit/>
          </a:bodyPr>
          <a:lstStyle/>
          <a:p>
            <a:r>
              <a:rPr lang="en-US" dirty="0"/>
              <a:t>Wi-Fi operate at one of two radio frequencies</a:t>
            </a:r>
          </a:p>
          <a:p>
            <a:pPr marL="0" indent="0">
              <a:buNone/>
            </a:pPr>
            <a:endParaRPr lang="en-US" dirty="0"/>
          </a:p>
          <a:p>
            <a:r>
              <a:rPr lang="en-US" dirty="0"/>
              <a:t> Antenna is both transmitter and receiver</a:t>
            </a:r>
          </a:p>
          <a:p>
            <a:pPr marL="0" indent="0">
              <a:buNone/>
            </a:pPr>
            <a:endParaRPr lang="en-US" dirty="0"/>
          </a:p>
          <a:p>
            <a:r>
              <a:rPr lang="en-US" dirty="0"/>
              <a:t>Usually categorized by their radiation pattern:</a:t>
            </a:r>
          </a:p>
          <a:p>
            <a:pPr lvl="1"/>
            <a:r>
              <a:rPr lang="en-US" dirty="0"/>
              <a:t>Omnidirectional antennas</a:t>
            </a:r>
          </a:p>
          <a:p>
            <a:pPr lvl="1"/>
            <a:r>
              <a:rPr lang="en-US" dirty="0"/>
              <a:t>Unidirectional antenna</a:t>
            </a:r>
          </a:p>
          <a:p>
            <a:pPr lvl="1"/>
            <a:endParaRPr lang="en-US" dirty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89225006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886" y="76745"/>
            <a:ext cx="8229600" cy="1143000"/>
          </a:xfrm>
        </p:spPr>
        <p:txBody>
          <a:bodyPr/>
          <a:lstStyle/>
          <a:p>
            <a:pPr algn="l"/>
            <a:r>
              <a:rPr lang="en-US" dirty="0">
                <a:solidFill>
                  <a:srgbClr val="3C3C3C"/>
                </a:solidFill>
              </a:rPr>
              <a:t>Network Standards</a:t>
            </a:r>
            <a:endParaRPr lang="en-US" dirty="0"/>
          </a:p>
        </p:txBody>
      </p:sp>
      <p:pic>
        <p:nvPicPr>
          <p:cNvPr id="6" name="Content Placeholder 5" descr="802.11 Wi-Fi standards" title="Table 3-4"/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914400" y="2057400"/>
            <a:ext cx="7308872" cy="3048000"/>
          </a:xfrm>
          <a:prstGeom prst="rect">
            <a:avLst/>
          </a:prstGeom>
        </p:spPr>
      </p:pic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Guide to Networking Essentials, 7th Edition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AF459AD7-A5D3-4044-A21F-E9BACB4CDE09}" type="slidenum">
              <a:rPr lang="en-US" smtClean="0"/>
              <a:pPr/>
              <a:t>35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78464295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dirty="0">
                <a:solidFill>
                  <a:srgbClr val="3C3C3C"/>
                </a:solidFill>
                <a:latin typeface="Arial"/>
              </a:rPr>
              <a:t>Network Standards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sz="quarter" idx="10"/>
          </p:nvPr>
        </p:nvSpPr>
        <p:spPr>
          <a:solidFill>
            <a:srgbClr val="FFFFFF"/>
          </a:solidFill>
        </p:spPr>
        <p:txBody>
          <a:bodyPr>
            <a:normAutofit/>
          </a:bodyPr>
          <a:lstStyle/>
          <a:p>
            <a:r>
              <a:rPr lang="en-US" dirty="0">
                <a:latin typeface="Arial"/>
              </a:rPr>
              <a:t>Any mobile computing that is using wireless…signal towers are used</a:t>
            </a:r>
          </a:p>
        </p:txBody>
      </p:sp>
    </p:spTree>
    <p:extLst>
      <p:ext uri="{BB962C8B-B14F-4D97-AF65-F5344CB8AC3E}">
        <p14:creationId xmlns:p14="http://schemas.microsoft.com/office/powerpoint/2010/main" val="3889225006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dirty="0">
                <a:solidFill>
                  <a:srgbClr val="3C3C3C"/>
                </a:solidFill>
                <a:latin typeface="Arial"/>
              </a:rPr>
              <a:t>Module 4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sz="quarter" idx="10"/>
          </p:nvPr>
        </p:nvSpPr>
        <p:spPr>
          <a:solidFill>
            <a:srgbClr val="FFFFFF"/>
          </a:solidFill>
        </p:spPr>
        <p:txBody>
          <a:bodyPr>
            <a:normAutofit/>
          </a:bodyPr>
          <a:lstStyle/>
          <a:p>
            <a:pPr marL="0" indent="0" algn="ctr">
              <a:buNone/>
            </a:pPr>
            <a:endParaRPr lang="en-US" sz="6600" dirty="0">
              <a:latin typeface="Arial"/>
            </a:endParaRPr>
          </a:p>
          <a:p>
            <a:pPr marL="0" indent="0" algn="ctr">
              <a:buNone/>
            </a:pPr>
            <a:r>
              <a:rPr lang="en-US" sz="6600" dirty="0">
                <a:latin typeface="Arial"/>
              </a:rPr>
              <a:t>Understand network interface</a:t>
            </a:r>
          </a:p>
        </p:txBody>
      </p:sp>
    </p:spTree>
    <p:extLst>
      <p:ext uri="{BB962C8B-B14F-4D97-AF65-F5344CB8AC3E}">
        <p14:creationId xmlns:p14="http://schemas.microsoft.com/office/powerpoint/2010/main" val="3889225006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dirty="0">
                <a:solidFill>
                  <a:srgbClr val="3C3C3C"/>
                </a:solidFill>
                <a:latin typeface="Arial"/>
              </a:rPr>
              <a:t>Lesson </a:t>
            </a:r>
            <a:r>
              <a:rPr lang="en-US" dirty="0">
                <a:solidFill>
                  <a:srgbClr val="3C3C3C"/>
                </a:solidFill>
              </a:rPr>
              <a:t>4 </a:t>
            </a:r>
            <a:r>
              <a:rPr lang="en-US" dirty="0">
                <a:solidFill>
                  <a:srgbClr val="3C3C3C"/>
                </a:solidFill>
                <a:latin typeface="Arial"/>
              </a:rPr>
              <a:t>Objectives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sz="quarter" idx="10"/>
          </p:nvPr>
        </p:nvSpPr>
        <p:spPr>
          <a:solidFill>
            <a:srgbClr val="FFFFFF"/>
          </a:solidFill>
        </p:spPr>
        <p:txBody>
          <a:bodyPr>
            <a:normAutofit fontScale="92500"/>
          </a:bodyPr>
          <a:lstStyle/>
          <a:p>
            <a:r>
              <a:rPr lang="en-CA" dirty="0"/>
              <a:t>Describe the role of a network interface card.</a:t>
            </a:r>
          </a:p>
          <a:p>
            <a:r>
              <a:rPr lang="en-CA" dirty="0"/>
              <a:t>Explain how network adapters prepare data for transmission, accept incoming network traffic, and control the flow of network communications.</a:t>
            </a:r>
          </a:p>
          <a:p>
            <a:r>
              <a:rPr lang="en-CA" dirty="0"/>
              <a:t>Describe requirements for selecting adapter cards.</a:t>
            </a:r>
          </a:p>
          <a:p>
            <a:r>
              <a:rPr lang="en-CA" dirty="0"/>
              <a:t>Describe the setting options for network adapters.</a:t>
            </a:r>
          </a:p>
          <a:p>
            <a:r>
              <a:rPr lang="en-CA" dirty="0"/>
              <a:t>Identify network adapter enhancements that can improve network performance.</a:t>
            </a:r>
          </a:p>
          <a:p>
            <a:r>
              <a:rPr lang="en-CA" dirty="0"/>
              <a:t>Explain the role of driver software in network adapters.</a:t>
            </a:r>
          </a:p>
          <a:p>
            <a:endParaRPr lang="en-US" dirty="0"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889225006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dirty="0">
                <a:solidFill>
                  <a:srgbClr val="3C3C3C"/>
                </a:solidFill>
                <a:latin typeface="Arial"/>
              </a:rPr>
              <a:t>Network Interface	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sz="quarter" idx="10"/>
          </p:nvPr>
        </p:nvSpPr>
        <p:spPr>
          <a:solidFill>
            <a:srgbClr val="FFFFFF"/>
          </a:solidFill>
        </p:spPr>
        <p:txBody>
          <a:bodyPr>
            <a:normAutofit/>
          </a:bodyPr>
          <a:lstStyle/>
          <a:p>
            <a:r>
              <a:rPr lang="en-US" dirty="0">
                <a:latin typeface="Arial"/>
              </a:rPr>
              <a:t>Transmit and receive</a:t>
            </a:r>
          </a:p>
          <a:p>
            <a:pPr marL="0" indent="0">
              <a:buNone/>
            </a:pPr>
            <a:endParaRPr lang="en-US" dirty="0">
              <a:latin typeface="Arial"/>
            </a:endParaRPr>
          </a:p>
          <a:p>
            <a:r>
              <a:rPr lang="en-US" dirty="0"/>
              <a:t>Physical (MAC) address</a:t>
            </a:r>
          </a:p>
          <a:p>
            <a:endParaRPr lang="en-US" dirty="0"/>
          </a:p>
          <a:p>
            <a:r>
              <a:rPr lang="en-US" dirty="0"/>
              <a:t>Incoming frames must match NIC’s address or broadcast address (FF-FF-FF-FF-FF-FF).</a:t>
            </a:r>
          </a:p>
          <a:p>
            <a:pPr marL="0" indent="0">
              <a:buNone/>
            </a:pPr>
            <a:endParaRPr lang="en-US" dirty="0"/>
          </a:p>
          <a:p>
            <a:r>
              <a:rPr lang="en-US" dirty="0"/>
              <a:t>Once processed by NIC, incoming frames are sent to the network protocol for further processing</a:t>
            </a:r>
          </a:p>
          <a:p>
            <a:endParaRPr lang="en-US" dirty="0"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889225006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dirty="0">
                <a:solidFill>
                  <a:srgbClr val="3C3C3C"/>
                </a:solidFill>
              </a:rPr>
              <a:t>Network Interface	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sz="quarter" idx="10"/>
          </p:nvPr>
        </p:nvSpPr>
        <p:spPr>
          <a:solidFill>
            <a:srgbClr val="FFFFFF"/>
          </a:solidFill>
        </p:spPr>
        <p:txBody>
          <a:bodyPr>
            <a:normAutofit/>
          </a:bodyPr>
          <a:lstStyle/>
          <a:p>
            <a:r>
              <a:rPr lang="en-US" sz="2400" dirty="0"/>
              <a:t>Ethernet II frame type used by TCP/IP</a:t>
            </a:r>
          </a:p>
          <a:p>
            <a:r>
              <a:rPr lang="en-US" sz="2400" dirty="0"/>
              <a:t>Frames must be between 64 and 1518 bytes</a:t>
            </a:r>
          </a:p>
          <a:p>
            <a:endParaRPr lang="en-US" dirty="0">
              <a:latin typeface="Arial"/>
            </a:endParaRPr>
          </a:p>
        </p:txBody>
      </p:sp>
      <p:pic>
        <p:nvPicPr>
          <p:cNvPr id="4" name="Picture 3" descr="Ethernet frame format" title="Figure 3-1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99807" y="3667022"/>
            <a:ext cx="6124575" cy="10858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89225006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dirty="0">
                <a:solidFill>
                  <a:srgbClr val="3C3C3C"/>
                </a:solidFill>
              </a:rPr>
              <a:t>Network Interface	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sz="quarter" idx="10"/>
          </p:nvPr>
        </p:nvSpPr>
        <p:spPr>
          <a:solidFill>
            <a:srgbClr val="FFFFFF"/>
          </a:solidFill>
        </p:spPr>
        <p:txBody>
          <a:bodyPr>
            <a:normAutofit/>
          </a:bodyPr>
          <a:lstStyle/>
          <a:p>
            <a:r>
              <a:rPr lang="en-US" dirty="0">
                <a:latin typeface="Arial"/>
              </a:rPr>
              <a:t>Requirements of cards depend on the needs of the company and HW and cabling</a:t>
            </a:r>
          </a:p>
          <a:p>
            <a:pPr lvl="1"/>
            <a:r>
              <a:rPr lang="en-US" dirty="0">
                <a:latin typeface="Arial"/>
              </a:rPr>
              <a:t>Think speed</a:t>
            </a:r>
          </a:p>
          <a:p>
            <a:endParaRPr lang="en-US" dirty="0">
              <a:latin typeface="Arial"/>
            </a:endParaRPr>
          </a:p>
          <a:p>
            <a:r>
              <a:rPr lang="en-US" dirty="0">
                <a:latin typeface="Arial"/>
              </a:rPr>
              <a:t>Can change transmission speeds on the card if it is available</a:t>
            </a:r>
          </a:p>
        </p:txBody>
      </p:sp>
    </p:spTree>
    <p:extLst>
      <p:ext uri="{BB962C8B-B14F-4D97-AF65-F5344CB8AC3E}">
        <p14:creationId xmlns:p14="http://schemas.microsoft.com/office/powerpoint/2010/main" val="3889225006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dirty="0">
                <a:solidFill>
                  <a:srgbClr val="3C3C3C"/>
                </a:solidFill>
              </a:rPr>
              <a:t>Network Interface	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sz="quarter" idx="10"/>
          </p:nvPr>
        </p:nvSpPr>
        <p:spPr>
          <a:solidFill>
            <a:srgbClr val="FFFFFF"/>
          </a:solidFill>
        </p:spPr>
        <p:txBody>
          <a:bodyPr>
            <a:normAutofit/>
          </a:bodyPr>
          <a:lstStyle/>
          <a:p>
            <a:r>
              <a:rPr lang="en-US" dirty="0">
                <a:latin typeface="Arial"/>
              </a:rPr>
              <a:t>Configure IP, DNS, gateway speed on NIC</a:t>
            </a:r>
          </a:p>
          <a:p>
            <a:r>
              <a:rPr lang="en-US" dirty="0">
                <a:latin typeface="Arial"/>
              </a:rPr>
              <a:t>NIC enhancements</a:t>
            </a:r>
            <a:r>
              <a:rPr lang="en-CA" dirty="0"/>
              <a:t> </a:t>
            </a:r>
          </a:p>
          <a:p>
            <a:pPr lvl="1"/>
            <a:r>
              <a:rPr lang="en-CA" dirty="0"/>
              <a:t>include more features and intelligence for boosting performance</a:t>
            </a:r>
            <a:endParaRPr lang="en-US" dirty="0"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889225006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dirty="0">
                <a:solidFill>
                  <a:srgbClr val="3C3C3C"/>
                </a:solidFill>
              </a:rPr>
              <a:t>Network Interface	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sz="quarter" idx="10"/>
          </p:nvPr>
        </p:nvSpPr>
        <p:spPr>
          <a:solidFill>
            <a:srgbClr val="FFFFFF"/>
          </a:solidFill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CA" dirty="0"/>
              <a:t>Packet Handling</a:t>
            </a:r>
          </a:p>
          <a:p>
            <a:r>
              <a:rPr lang="en-CA" dirty="0"/>
              <a:t>Interframe spacing</a:t>
            </a:r>
          </a:p>
          <a:p>
            <a:pPr lvl="1"/>
            <a:endParaRPr lang="en-CA" dirty="0">
              <a:latin typeface="Arial"/>
            </a:endParaRPr>
          </a:p>
          <a:p>
            <a:r>
              <a:rPr lang="en-CA" dirty="0"/>
              <a:t>Interrupt throttling for CPU performance</a:t>
            </a:r>
          </a:p>
          <a:p>
            <a:pPr marL="0" indent="0">
              <a:buNone/>
            </a:pPr>
            <a:endParaRPr lang="en-CA" dirty="0"/>
          </a:p>
          <a:p>
            <a:r>
              <a:rPr lang="en-CA" dirty="0"/>
              <a:t>Prioritizing time-sensitive data types: Enable packet tagging</a:t>
            </a:r>
          </a:p>
          <a:p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3889225006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dirty="0">
                <a:solidFill>
                  <a:srgbClr val="3C3C3C"/>
                </a:solidFill>
                <a:latin typeface="Arial"/>
              </a:rPr>
              <a:t>Network Interface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sz="quarter" idx="10"/>
          </p:nvPr>
        </p:nvSpPr>
        <p:spPr>
          <a:solidFill>
            <a:srgbClr val="FFFFFF"/>
          </a:solidFill>
        </p:spPr>
        <p:txBody>
          <a:bodyPr>
            <a:normAutofit/>
          </a:bodyPr>
          <a:lstStyle/>
          <a:p>
            <a:endParaRPr lang="en-CA" dirty="0"/>
          </a:p>
          <a:p>
            <a:r>
              <a:rPr lang="en-CA" dirty="0"/>
              <a:t>Definition - What does Network Model mean? </a:t>
            </a:r>
          </a:p>
        </p:txBody>
      </p:sp>
    </p:spTree>
    <p:extLst>
      <p:ext uri="{BB962C8B-B14F-4D97-AF65-F5344CB8AC3E}">
        <p14:creationId xmlns:p14="http://schemas.microsoft.com/office/powerpoint/2010/main" val="3889225006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dirty="0">
                <a:solidFill>
                  <a:srgbClr val="3C3C3C"/>
                </a:solidFill>
                <a:latin typeface="Arial"/>
              </a:rPr>
              <a:t>Module 5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sz="quarter" idx="10"/>
          </p:nvPr>
        </p:nvSpPr>
        <p:spPr>
          <a:solidFill>
            <a:srgbClr val="FFFFFF"/>
          </a:solidFill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6600" dirty="0">
                <a:latin typeface="Arial"/>
              </a:rPr>
              <a:t>		Network Components and 		communication</a:t>
            </a:r>
          </a:p>
        </p:txBody>
      </p:sp>
    </p:spTree>
    <p:extLst>
      <p:ext uri="{BB962C8B-B14F-4D97-AF65-F5344CB8AC3E}">
        <p14:creationId xmlns:p14="http://schemas.microsoft.com/office/powerpoint/2010/main" val="2864867227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dirty="0">
                <a:solidFill>
                  <a:srgbClr val="3C3C3C"/>
                </a:solidFill>
                <a:latin typeface="Arial"/>
              </a:rPr>
              <a:t>Lesson  Objectives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sz="quarter" idx="10"/>
          </p:nvPr>
        </p:nvSpPr>
        <p:spPr>
          <a:solidFill>
            <a:srgbClr val="FFFFFF"/>
          </a:solidFill>
        </p:spPr>
        <p:txBody>
          <a:bodyPr>
            <a:normAutofit/>
          </a:bodyPr>
          <a:lstStyle/>
          <a:p>
            <a:r>
              <a:rPr lang="en-CA" dirty="0"/>
              <a:t>Explain the function and structure of packets in a network.</a:t>
            </a:r>
          </a:p>
          <a:p>
            <a:r>
              <a:rPr lang="en-CA" dirty="0"/>
              <a:t>Explain the function of protocols in a network.</a:t>
            </a:r>
          </a:p>
          <a:p>
            <a:r>
              <a:rPr lang="en-CA" dirty="0"/>
              <a:t>Describe the layered architecture of protocols.</a:t>
            </a:r>
          </a:p>
          <a:p>
            <a:r>
              <a:rPr lang="en-CA" dirty="0"/>
              <a:t>Describe common protocols and their implementation.</a:t>
            </a:r>
          </a:p>
          <a:p>
            <a:r>
              <a:rPr lang="en-CA" dirty="0"/>
              <a:t>Explain channel access methods.</a:t>
            </a:r>
          </a:p>
          <a:p>
            <a:r>
              <a:rPr lang="en-CA" dirty="0"/>
              <a:t>Explain the major network architectures.</a:t>
            </a:r>
          </a:p>
          <a:p>
            <a:endParaRPr lang="en-US" dirty="0"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864867227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17852" y="18003"/>
            <a:ext cx="6697348" cy="627860"/>
          </a:xfrm>
        </p:spPr>
        <p:txBody>
          <a:bodyPr>
            <a:normAutofit/>
          </a:bodyPr>
          <a:lstStyle/>
          <a:p>
            <a:r>
              <a:rPr lang="en-US" sz="2500" dirty="0">
                <a:solidFill>
                  <a:srgbClr val="3C3C3C"/>
                </a:solidFill>
              </a:rPr>
              <a:t>Network Components and Communication</a:t>
            </a:r>
            <a:endParaRPr lang="en-US" sz="2500" dirty="0"/>
          </a:p>
        </p:txBody>
      </p:sp>
      <p:sp>
        <p:nvSpPr>
          <p:cNvPr id="3" name="Subtitle 2"/>
          <p:cNvSpPr>
            <a:spLocks noGrp="1"/>
          </p:cNvSpPr>
          <p:nvPr>
            <p:ph sz="quarter" idx="10"/>
          </p:nvPr>
        </p:nvSpPr>
        <p:spPr>
          <a:solidFill>
            <a:srgbClr val="FFFFFF"/>
          </a:solidFill>
        </p:spPr>
        <p:txBody>
          <a:bodyPr>
            <a:normAutofit/>
          </a:bodyPr>
          <a:lstStyle/>
          <a:p>
            <a:r>
              <a:rPr lang="en-US" dirty="0">
                <a:latin typeface="Arial"/>
              </a:rPr>
              <a:t>OSI</a:t>
            </a:r>
          </a:p>
          <a:p>
            <a:r>
              <a:rPr lang="en-US" dirty="0">
                <a:latin typeface="Arial"/>
                <a:hlinkClick r:id="rId2"/>
              </a:rPr>
              <a:t>https://www.webopedia.com/quick_ref/OSI_Layers.asp</a:t>
            </a:r>
            <a:endParaRPr lang="en-US" dirty="0">
              <a:latin typeface="Arial"/>
            </a:endParaRPr>
          </a:p>
          <a:p>
            <a:r>
              <a:rPr lang="en-US" dirty="0">
                <a:latin typeface="Arial"/>
              </a:rPr>
              <a:t>Research the 7 layers of the OSI Model</a:t>
            </a:r>
          </a:p>
          <a:p>
            <a:r>
              <a:rPr lang="en-US" dirty="0">
                <a:latin typeface="Arial"/>
              </a:rPr>
              <a:t>Research the TCP IP Model</a:t>
            </a:r>
          </a:p>
          <a:p>
            <a:r>
              <a:rPr lang="en-US" dirty="0">
                <a:latin typeface="Arial"/>
              </a:rPr>
              <a:t>Compare and explain the similarities/differences</a:t>
            </a:r>
          </a:p>
        </p:txBody>
      </p:sp>
    </p:spTree>
    <p:extLst>
      <p:ext uri="{BB962C8B-B14F-4D97-AF65-F5344CB8AC3E}">
        <p14:creationId xmlns:p14="http://schemas.microsoft.com/office/powerpoint/2010/main" val="168341501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sz="2500" dirty="0">
                <a:solidFill>
                  <a:srgbClr val="3C3C3C"/>
                </a:solidFill>
              </a:rPr>
              <a:t>Network Components and Communication</a:t>
            </a:r>
            <a:endParaRPr lang="en-US" sz="2500" dirty="0"/>
          </a:p>
        </p:txBody>
      </p:sp>
      <p:sp>
        <p:nvSpPr>
          <p:cNvPr id="3" name="Subtitle 2"/>
          <p:cNvSpPr>
            <a:spLocks noGrp="1"/>
          </p:cNvSpPr>
          <p:nvPr>
            <p:ph sz="quarter" idx="10"/>
          </p:nvPr>
        </p:nvSpPr>
        <p:spPr>
          <a:solidFill>
            <a:srgbClr val="FFFFFF"/>
          </a:solidFill>
        </p:spPr>
        <p:txBody>
          <a:bodyPr>
            <a:normAutofit/>
          </a:bodyPr>
          <a:lstStyle/>
          <a:p>
            <a:r>
              <a:rPr lang="en-US" dirty="0">
                <a:latin typeface="Arial"/>
              </a:rPr>
              <a:t>Research Packet Frames and write down your findings to discuss as a class</a:t>
            </a:r>
          </a:p>
        </p:txBody>
      </p:sp>
    </p:spTree>
    <p:extLst>
      <p:ext uri="{BB962C8B-B14F-4D97-AF65-F5344CB8AC3E}">
        <p14:creationId xmlns:p14="http://schemas.microsoft.com/office/powerpoint/2010/main" val="2864867227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sz="2500" dirty="0">
                <a:solidFill>
                  <a:srgbClr val="3C3C3C"/>
                </a:solidFill>
              </a:rPr>
              <a:t>Network Components and Communication</a:t>
            </a:r>
            <a:endParaRPr lang="en-US" sz="2500" dirty="0"/>
          </a:p>
        </p:txBody>
      </p:sp>
      <p:pic>
        <p:nvPicPr>
          <p:cNvPr id="4" name="Content Placeholder 5" descr="The TCP/IP layered architecture" title="Figure 5-1"/>
          <p:cNvPicPr>
            <a:picLocks noGrp="1" noChangeAspect="1"/>
          </p:cNvPicPr>
          <p:nvPr>
            <p:ph sz="quarter" idx="10"/>
          </p:nvPr>
        </p:nvPicPr>
        <p:blipFill>
          <a:blip r:embed="rId2"/>
          <a:stretch>
            <a:fillRect/>
          </a:stretch>
        </p:blipFill>
        <p:spPr>
          <a:xfrm>
            <a:off x="2866231" y="3109119"/>
            <a:ext cx="3378200" cy="1244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64867227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sz="2500" dirty="0">
                <a:solidFill>
                  <a:srgbClr val="3C3C3C"/>
                </a:solidFill>
              </a:rPr>
              <a:t>Network Components and Communication</a:t>
            </a:r>
            <a:endParaRPr lang="en-US" sz="2500" dirty="0"/>
          </a:p>
        </p:txBody>
      </p:sp>
      <p:sp>
        <p:nvSpPr>
          <p:cNvPr id="3" name="Subtitle 2"/>
          <p:cNvSpPr>
            <a:spLocks noGrp="1"/>
          </p:cNvSpPr>
          <p:nvPr>
            <p:ph sz="quarter" idx="10"/>
          </p:nvPr>
        </p:nvSpPr>
        <p:spPr>
          <a:solidFill>
            <a:srgbClr val="FFFFFF"/>
          </a:solidFill>
        </p:spPr>
        <p:txBody>
          <a:bodyPr>
            <a:normAutofit lnSpcReduction="10000"/>
          </a:bodyPr>
          <a:lstStyle/>
          <a:p>
            <a:r>
              <a:rPr lang="en-US" dirty="0"/>
              <a:t>Example of how the layers work together:</a:t>
            </a:r>
          </a:p>
          <a:p>
            <a:pPr lvl="1"/>
            <a:r>
              <a:rPr lang="en-US" dirty="0">
                <a:latin typeface="Arial" panose="020B0604020202020204" pitchFamily="34" charset="0"/>
              </a:rPr>
              <a:t>Start with web browser</a:t>
            </a:r>
            <a:endParaRPr lang="en-US" i="1" dirty="0">
              <a:latin typeface="Arial" panose="020B0604020202020204" pitchFamily="34" charset="0"/>
            </a:endParaRPr>
          </a:p>
          <a:p>
            <a:pPr lvl="1"/>
            <a:r>
              <a:rPr lang="en-US" dirty="0">
                <a:latin typeface="Arial" panose="020B0604020202020204" pitchFamily="34" charset="0"/>
              </a:rPr>
              <a:t>Layer protocol HTTP is used</a:t>
            </a:r>
          </a:p>
          <a:p>
            <a:pPr lvl="1"/>
            <a:r>
              <a:rPr lang="en-US" dirty="0">
                <a:latin typeface="Arial" panose="020B0604020202020204" pitchFamily="34" charset="0"/>
              </a:rPr>
              <a:t>The unit of information the Application layer works with is simply called “data”</a:t>
            </a:r>
          </a:p>
          <a:p>
            <a:pPr lvl="1"/>
            <a:r>
              <a:rPr lang="en-US" dirty="0">
                <a:latin typeface="Arial" panose="020B0604020202020204" pitchFamily="34" charset="0"/>
              </a:rPr>
              <a:t>The Application-layer protocol HTTP passes the request</a:t>
            </a:r>
          </a:p>
          <a:p>
            <a:pPr lvl="1"/>
            <a:r>
              <a:rPr lang="en-US" dirty="0">
                <a:latin typeface="Arial" panose="020B0604020202020204" pitchFamily="34" charset="0"/>
              </a:rPr>
              <a:t>TCP adds a header to the request that looks like:</a:t>
            </a:r>
          </a:p>
          <a:p>
            <a:pPr lvl="1"/>
            <a:endParaRPr lang="en-US" dirty="0">
              <a:latin typeface="Arial" panose="020B0604020202020204" pitchFamily="34" charset="0"/>
            </a:endParaRPr>
          </a:p>
          <a:p>
            <a:endParaRPr lang="en-US" dirty="0"/>
          </a:p>
          <a:p>
            <a:pPr marL="685800" lvl="2" indent="-342900">
              <a:buFont typeface="Courier New" panose="02070309020205020404" pitchFamily="49" charset="0"/>
              <a:buChar char="o"/>
            </a:pPr>
            <a:r>
              <a:rPr lang="en-US" dirty="0">
                <a:latin typeface="Arial" panose="020B0604020202020204" pitchFamily="34" charset="0"/>
              </a:rPr>
              <a:t>TCP passes the segment to the Internetwork layer protocol (IP)</a:t>
            </a:r>
          </a:p>
          <a:p>
            <a:endParaRPr lang="en-US" dirty="0">
              <a:latin typeface="Arial"/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89244" y="4753963"/>
            <a:ext cx="3729789" cy="457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64867227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sz="2500" dirty="0">
                <a:solidFill>
                  <a:srgbClr val="3C3C3C"/>
                </a:solidFill>
              </a:rPr>
              <a:t>Network Components and Communication</a:t>
            </a:r>
            <a:endParaRPr lang="en-US" sz="2500" dirty="0"/>
          </a:p>
        </p:txBody>
      </p:sp>
      <p:sp>
        <p:nvSpPr>
          <p:cNvPr id="3" name="Subtitle 2"/>
          <p:cNvSpPr>
            <a:spLocks noGrp="1"/>
          </p:cNvSpPr>
          <p:nvPr>
            <p:ph sz="quarter" idx="10"/>
          </p:nvPr>
        </p:nvSpPr>
        <p:spPr>
          <a:solidFill>
            <a:srgbClr val="FFFFFF"/>
          </a:solidFill>
        </p:spPr>
        <p:txBody>
          <a:bodyPr>
            <a:normAutofit/>
          </a:bodyPr>
          <a:lstStyle/>
          <a:p>
            <a:pPr lvl="1"/>
            <a:r>
              <a:rPr lang="en-US" dirty="0">
                <a:latin typeface="Arial" panose="020B0604020202020204" pitchFamily="34" charset="0"/>
              </a:rPr>
              <a:t>IP places its header on the segment:</a:t>
            </a:r>
          </a:p>
          <a:p>
            <a:pPr lvl="1"/>
            <a:endParaRPr lang="en-US" dirty="0">
              <a:latin typeface="Arial" panose="020B0604020202020204" pitchFamily="34" charset="0"/>
            </a:endParaRPr>
          </a:p>
          <a:p>
            <a:pPr lvl="1"/>
            <a:r>
              <a:rPr lang="en-US" dirty="0">
                <a:latin typeface="Arial" panose="020B0604020202020204" pitchFamily="34" charset="0"/>
              </a:rPr>
              <a:t>The packet is passed </a:t>
            </a:r>
          </a:p>
          <a:p>
            <a:pPr lvl="1"/>
            <a:r>
              <a:rPr lang="en-US" dirty="0">
                <a:latin typeface="Arial" panose="020B0604020202020204" pitchFamily="34" charset="0"/>
              </a:rPr>
              <a:t>A frame header and trailer are added</a:t>
            </a:r>
          </a:p>
          <a:p>
            <a:pPr lvl="1"/>
            <a:endParaRPr lang="en-US" dirty="0">
              <a:latin typeface="Arial" panose="020B0604020202020204" pitchFamily="34" charset="0"/>
            </a:endParaRPr>
          </a:p>
          <a:p>
            <a:pPr lvl="1"/>
            <a:r>
              <a:rPr lang="en-US" dirty="0">
                <a:latin typeface="Arial" panose="020B0604020202020204" pitchFamily="34" charset="0"/>
              </a:rPr>
              <a:t>The frame is delivered </a:t>
            </a:r>
          </a:p>
          <a:p>
            <a:pPr lvl="1"/>
            <a:r>
              <a:rPr lang="en-US" dirty="0">
                <a:latin typeface="Arial" panose="020B0604020202020204" pitchFamily="34" charset="0"/>
              </a:rPr>
              <a:t>The web server processes it and returns a Web page</a:t>
            </a:r>
          </a:p>
          <a:p>
            <a:pPr lvl="1"/>
            <a:endParaRPr lang="en-US" dirty="0">
              <a:latin typeface="Arial" panose="020B0604020202020204" pitchFamily="34" charset="0"/>
            </a:endParaRPr>
          </a:p>
          <a:p>
            <a:endParaRPr lang="en-US" dirty="0"/>
          </a:p>
          <a:p>
            <a:endParaRPr lang="en-US" dirty="0">
              <a:latin typeface="Arial"/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91268" y="1627734"/>
            <a:ext cx="4525108" cy="457200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56898" y="3071092"/>
            <a:ext cx="6044514" cy="381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64867227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sz="2500" dirty="0">
                <a:solidFill>
                  <a:srgbClr val="3C3C3C"/>
                </a:solidFill>
              </a:rPr>
              <a:t>Network Components and Communication</a:t>
            </a:r>
            <a:endParaRPr lang="en-US" sz="2500" dirty="0"/>
          </a:p>
        </p:txBody>
      </p:sp>
      <p:sp>
        <p:nvSpPr>
          <p:cNvPr id="3" name="Subtitle 2"/>
          <p:cNvSpPr>
            <a:spLocks noGrp="1"/>
          </p:cNvSpPr>
          <p:nvPr>
            <p:ph sz="quarter" idx="10"/>
          </p:nvPr>
        </p:nvSpPr>
        <p:spPr>
          <a:solidFill>
            <a:srgbClr val="FFFFFF"/>
          </a:solidFill>
        </p:spPr>
        <p:txBody>
          <a:bodyPr>
            <a:normAutofit/>
          </a:bodyPr>
          <a:lstStyle/>
          <a:p>
            <a:r>
              <a:rPr lang="en-US" dirty="0"/>
              <a:t>The Application layer provides network services to user applications that access network resources</a:t>
            </a:r>
          </a:p>
          <a:p>
            <a:r>
              <a:rPr lang="en-US" dirty="0"/>
              <a:t>The Application layer provides these functions:</a:t>
            </a:r>
          </a:p>
          <a:p>
            <a:pPr lvl="1"/>
            <a:r>
              <a:rPr lang="en-US" sz="2300" dirty="0">
                <a:latin typeface="Arial" panose="020B0604020202020204" pitchFamily="34" charset="0"/>
              </a:rPr>
              <a:t>Access by applications to network services</a:t>
            </a:r>
          </a:p>
          <a:p>
            <a:pPr lvl="1"/>
            <a:r>
              <a:rPr lang="en-US" sz="2300" dirty="0">
                <a:latin typeface="Arial" panose="020B0604020202020204" pitchFamily="34" charset="0"/>
              </a:rPr>
              <a:t>Client/server data access</a:t>
            </a:r>
          </a:p>
          <a:p>
            <a:pPr lvl="1"/>
            <a:r>
              <a:rPr lang="en-US" sz="2300" dirty="0">
                <a:latin typeface="Arial" panose="020B0604020202020204" pitchFamily="34" charset="0"/>
              </a:rPr>
              <a:t>Name resolution </a:t>
            </a:r>
          </a:p>
          <a:p>
            <a:pPr lvl="1"/>
            <a:r>
              <a:rPr lang="en-US" sz="2300" dirty="0">
                <a:latin typeface="Arial" panose="020B0604020202020204" pitchFamily="34" charset="0"/>
              </a:rPr>
              <a:t>Dynamic address assignment </a:t>
            </a:r>
          </a:p>
          <a:p>
            <a:pPr lvl="1"/>
            <a:r>
              <a:rPr lang="en-US" sz="2300" dirty="0">
                <a:latin typeface="Arial" panose="020B0604020202020204" pitchFamily="34" charset="0"/>
              </a:rPr>
              <a:t>Authentication/user logon</a:t>
            </a:r>
          </a:p>
          <a:p>
            <a:pPr lvl="1"/>
            <a:r>
              <a:rPr lang="en-US" sz="2300" dirty="0">
                <a:latin typeface="Arial" panose="020B0604020202020204" pitchFamily="34" charset="0"/>
              </a:rPr>
              <a:t>Data formatting and translation</a:t>
            </a:r>
          </a:p>
          <a:p>
            <a:endParaRPr lang="en-US" dirty="0"/>
          </a:p>
          <a:p>
            <a:endParaRPr lang="en-US" dirty="0"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864867227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sz="2500" dirty="0">
                <a:solidFill>
                  <a:srgbClr val="3C3C3C"/>
                </a:solidFill>
              </a:rPr>
              <a:t>Network Components and Communication</a:t>
            </a:r>
            <a:endParaRPr lang="en-US" sz="2500" dirty="0"/>
          </a:p>
        </p:txBody>
      </p:sp>
      <p:sp>
        <p:nvSpPr>
          <p:cNvPr id="3" name="Subtitle 2"/>
          <p:cNvSpPr>
            <a:spLocks noGrp="1"/>
          </p:cNvSpPr>
          <p:nvPr>
            <p:ph sz="quarter" idx="10"/>
          </p:nvPr>
        </p:nvSpPr>
        <p:spPr>
          <a:solidFill>
            <a:srgbClr val="FFFFFF"/>
          </a:solidFill>
        </p:spPr>
        <p:txBody>
          <a:bodyPr>
            <a:normAutofit/>
          </a:bodyPr>
          <a:lstStyle/>
          <a:p>
            <a:r>
              <a:rPr lang="en-US" dirty="0"/>
              <a:t>POP3</a:t>
            </a:r>
          </a:p>
          <a:p>
            <a:r>
              <a:rPr lang="en-US" dirty="0"/>
              <a:t>IMAP4</a:t>
            </a:r>
          </a:p>
          <a:p>
            <a:r>
              <a:rPr lang="en-US" dirty="0"/>
              <a:t>SMTP</a:t>
            </a:r>
          </a:p>
          <a:p>
            <a:r>
              <a:rPr lang="en-US" dirty="0"/>
              <a:t>SMB</a:t>
            </a:r>
          </a:p>
          <a:p>
            <a:r>
              <a:rPr lang="en-US" dirty="0"/>
              <a:t>RDP</a:t>
            </a:r>
          </a:p>
          <a:p>
            <a:r>
              <a:rPr lang="en-US" dirty="0"/>
              <a:t>SSH</a:t>
            </a:r>
          </a:p>
          <a:p>
            <a:r>
              <a:rPr lang="en-US" dirty="0"/>
              <a:t>SNMP</a:t>
            </a:r>
          </a:p>
        </p:txBody>
      </p:sp>
    </p:spTree>
    <p:extLst>
      <p:ext uri="{BB962C8B-B14F-4D97-AF65-F5344CB8AC3E}">
        <p14:creationId xmlns:p14="http://schemas.microsoft.com/office/powerpoint/2010/main" val="2864867227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sz="2500" dirty="0">
                <a:solidFill>
                  <a:srgbClr val="3C3C3C"/>
                </a:solidFill>
              </a:rPr>
              <a:t>Network Components and Communication</a:t>
            </a:r>
            <a:endParaRPr lang="en-US" sz="2500" dirty="0"/>
          </a:p>
        </p:txBody>
      </p:sp>
      <p:sp>
        <p:nvSpPr>
          <p:cNvPr id="3" name="Subtitle 2"/>
          <p:cNvSpPr>
            <a:spLocks noGrp="1"/>
          </p:cNvSpPr>
          <p:nvPr>
            <p:ph sz="quarter" idx="10"/>
          </p:nvPr>
        </p:nvSpPr>
        <p:spPr>
          <a:solidFill>
            <a:srgbClr val="FFFFFF"/>
          </a:solidFill>
        </p:spPr>
        <p:txBody>
          <a:bodyPr>
            <a:normAutofit/>
          </a:bodyPr>
          <a:lstStyle/>
          <a:p>
            <a:r>
              <a:rPr lang="en-US" sz="2400" dirty="0"/>
              <a:t>TCP/IP Drawback</a:t>
            </a:r>
          </a:p>
          <a:p>
            <a:endParaRPr lang="en-US" sz="2400" dirty="0"/>
          </a:p>
          <a:p>
            <a:pPr marL="0" indent="0">
              <a:buNone/>
            </a:pPr>
            <a:endParaRPr lang="en-US" sz="2400" dirty="0"/>
          </a:p>
          <a:p>
            <a:r>
              <a:rPr lang="en-US" sz="2400" dirty="0"/>
              <a:t>DHCP is used to automatically assign IP addresses as needed</a:t>
            </a:r>
          </a:p>
          <a:p>
            <a:endParaRPr lang="en-US" dirty="0"/>
          </a:p>
          <a:p>
            <a:endParaRPr lang="en-US" dirty="0">
              <a:latin typeface="Arial"/>
            </a:endParaRPr>
          </a:p>
        </p:txBody>
      </p:sp>
      <p:sp>
        <p:nvSpPr>
          <p:cNvPr id="4" name="Subtitle 2">
            <a:extLst>
              <a:ext uri="{FF2B5EF4-FFF2-40B4-BE49-F238E27FC236}">
                <a16:creationId xmlns:a16="http://schemas.microsoft.com/office/drawing/2014/main" id="{73984079-A82D-4E0B-A505-BA3E0FA2F505}"/>
              </a:ext>
            </a:extLst>
          </p:cNvPr>
          <p:cNvSpPr txBox="1">
            <a:spLocks/>
          </p:cNvSpPr>
          <p:nvPr/>
        </p:nvSpPr>
        <p:spPr>
          <a:xfrm>
            <a:off x="469630" y="3725694"/>
            <a:ext cx="5736617" cy="2186936"/>
          </a:xfrm>
          <a:prstGeom prst="rect">
            <a:avLst/>
          </a:prstGeom>
          <a:solidFill>
            <a:srgbClr val="FFFFFF"/>
          </a:solidFill>
        </p:spPr>
        <p:txBody>
          <a:bodyPr vert="horz">
            <a:normAutofit fontScale="92500" lnSpcReduction="20000"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800" kern="1200" baseline="0">
                <a:solidFill>
                  <a:schemeClr val="tx2"/>
                </a:solidFill>
                <a:latin typeface="Arial" pitchFamily="34" charset="0"/>
                <a:ea typeface="+mn-ea"/>
                <a:cs typeface="Arial" pitchFamily="34" charset="0"/>
              </a:defRPr>
            </a:lvl1pPr>
            <a:lvl2pPr marL="6858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◦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-228600" algn="l" defTabSz="914400" rtl="0" eaLnBrk="1" latinLnBrk="0" hangingPunct="1">
              <a:spcBef>
                <a:spcPct val="20000"/>
              </a:spcBef>
              <a:buFont typeface="Wingdings" panose="05000000000000000000" pitchFamily="2" charset="2"/>
              <a:buChar char="§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Broadcast packets used by the DHCP process:</a:t>
            </a:r>
          </a:p>
          <a:p>
            <a:pPr lvl="1"/>
            <a:r>
              <a:rPr lang="en-US" i="1"/>
              <a:t>DHCPDiscover</a:t>
            </a:r>
            <a:r>
              <a:rPr lang="en-US"/>
              <a:t> </a:t>
            </a:r>
          </a:p>
          <a:p>
            <a:pPr lvl="1"/>
            <a:r>
              <a:rPr lang="en-US" i="1"/>
              <a:t>DHCPOffer </a:t>
            </a:r>
          </a:p>
          <a:p>
            <a:pPr lvl="1"/>
            <a:r>
              <a:rPr lang="en-US" i="1"/>
              <a:t>DHCPRequest </a:t>
            </a:r>
          </a:p>
          <a:p>
            <a:pPr lvl="1"/>
            <a:r>
              <a:rPr lang="en-US" i="1"/>
              <a:t>DHCPAck </a:t>
            </a:r>
            <a:endParaRPr lang="en-US" dirty="0"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864867227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dirty="0">
                <a:solidFill>
                  <a:srgbClr val="3C3C3C"/>
                </a:solidFill>
                <a:latin typeface="Arial"/>
              </a:rPr>
              <a:t>Module 6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sz="quarter" idx="10"/>
          </p:nvPr>
        </p:nvSpPr>
        <p:spPr>
          <a:solidFill>
            <a:srgbClr val="FFFFFF"/>
          </a:solidFill>
        </p:spPr>
        <p:txBody>
          <a:bodyPr>
            <a:normAutofit/>
          </a:bodyPr>
          <a:lstStyle/>
          <a:p>
            <a:r>
              <a:rPr lang="en-US" dirty="0">
                <a:latin typeface="Arial"/>
              </a:rPr>
              <a:t>Network Design Project</a:t>
            </a:r>
          </a:p>
          <a:p>
            <a:pPr lvl="1"/>
            <a:r>
              <a:rPr lang="en-US" dirty="0">
                <a:latin typeface="Arial"/>
              </a:rPr>
              <a:t>A small company with 200 employees</a:t>
            </a:r>
          </a:p>
          <a:p>
            <a:pPr lvl="1"/>
            <a:r>
              <a:rPr lang="en-US" dirty="0">
                <a:latin typeface="Arial"/>
              </a:rPr>
              <a:t>Servers will consist of Exchange, IIS, DB, AD, DNS, DHCP, SharePoint, </a:t>
            </a:r>
            <a:r>
              <a:rPr lang="en-US" dirty="0" err="1">
                <a:latin typeface="Arial"/>
              </a:rPr>
              <a:t>FileServer</a:t>
            </a:r>
            <a:r>
              <a:rPr lang="en-US" dirty="0">
                <a:latin typeface="Arial"/>
              </a:rPr>
              <a:t>, Apache, two Linux Servers</a:t>
            </a:r>
          </a:p>
          <a:p>
            <a:pPr lvl="1"/>
            <a:r>
              <a:rPr lang="en-US" dirty="0">
                <a:latin typeface="Arial"/>
              </a:rPr>
              <a:t>DMZ has two Servers for customer access</a:t>
            </a:r>
          </a:p>
          <a:p>
            <a:pPr lvl="1"/>
            <a:r>
              <a:rPr lang="en-US" dirty="0">
                <a:latin typeface="Arial"/>
              </a:rPr>
              <a:t>There are 200 Laptops to accommodate the employees.  </a:t>
            </a:r>
          </a:p>
          <a:p>
            <a:pPr lvl="1"/>
            <a:r>
              <a:rPr lang="en-US" dirty="0" err="1">
                <a:latin typeface="Arial"/>
              </a:rPr>
              <a:t>WiFi</a:t>
            </a:r>
            <a:r>
              <a:rPr lang="en-US" dirty="0">
                <a:latin typeface="Arial"/>
              </a:rPr>
              <a:t> access is needed</a:t>
            </a:r>
          </a:p>
          <a:p>
            <a:pPr lvl="1"/>
            <a:r>
              <a:rPr lang="en-US" dirty="0">
                <a:latin typeface="Arial"/>
              </a:rPr>
              <a:t>Create a Design the setup.  Use Visio for your final design layout</a:t>
            </a:r>
          </a:p>
          <a:p>
            <a:pPr lvl="1"/>
            <a:endParaRPr lang="en-US" dirty="0"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864867227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dirty="0">
                <a:solidFill>
                  <a:srgbClr val="3C3C3C"/>
                </a:solidFill>
                <a:latin typeface="Arial"/>
              </a:rPr>
              <a:t>Group Project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sz="quarter" idx="10"/>
          </p:nvPr>
        </p:nvSpPr>
        <p:spPr>
          <a:solidFill>
            <a:srgbClr val="FFFFFF"/>
          </a:solidFill>
        </p:spPr>
        <p:txBody>
          <a:bodyPr>
            <a:normAutofit/>
          </a:bodyPr>
          <a:lstStyle/>
          <a:p>
            <a:r>
              <a:rPr lang="en-CA" dirty="0"/>
              <a:t>Describe the different major network architectures, including Ethernet, Token</a:t>
            </a:r>
          </a:p>
          <a:p>
            <a:r>
              <a:rPr lang="en-CA" dirty="0"/>
              <a:t>Ring, Apple Talk and Fiber Distributed Data Interface (FDDI) and ATM.</a:t>
            </a:r>
          </a:p>
          <a:p>
            <a:r>
              <a:rPr lang="en-CA" dirty="0"/>
              <a:t>Identify the standards governing these architectures.</a:t>
            </a:r>
          </a:p>
          <a:p>
            <a:r>
              <a:rPr lang="en-CA" dirty="0"/>
              <a:t>Discuss advantages and disadvantages of each standard.</a:t>
            </a:r>
          </a:p>
          <a:p>
            <a:r>
              <a:rPr lang="en-CA" dirty="0"/>
              <a:t>Understand network operating systems and client/server computing concepts.</a:t>
            </a:r>
          </a:p>
        </p:txBody>
      </p:sp>
    </p:spTree>
    <p:extLst>
      <p:ext uri="{BB962C8B-B14F-4D97-AF65-F5344CB8AC3E}">
        <p14:creationId xmlns:p14="http://schemas.microsoft.com/office/powerpoint/2010/main" val="2864867227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dirty="0">
                <a:solidFill>
                  <a:srgbClr val="3C3C3C"/>
                </a:solidFill>
                <a:latin typeface="Arial"/>
              </a:rPr>
              <a:t>Group Project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sz="quarter" idx="10"/>
          </p:nvPr>
        </p:nvSpPr>
        <p:spPr>
          <a:solidFill>
            <a:srgbClr val="FFFFFF"/>
          </a:solidFill>
        </p:spPr>
        <p:txBody>
          <a:bodyPr>
            <a:normAutofit fontScale="92500"/>
          </a:bodyPr>
          <a:lstStyle/>
          <a:p>
            <a:r>
              <a:rPr lang="en-CA" dirty="0"/>
              <a:t>List distinguishing characteristics of client/server computing.</a:t>
            </a:r>
          </a:p>
          <a:p>
            <a:r>
              <a:rPr lang="en-CA" dirty="0"/>
              <a:t>Describe the major operating systems used in client/server computing.</a:t>
            </a:r>
          </a:p>
          <a:p>
            <a:r>
              <a:rPr lang="en-CA" dirty="0"/>
              <a:t>Explain the concepts of fat client and thin client.</a:t>
            </a:r>
          </a:p>
          <a:p>
            <a:r>
              <a:rPr lang="en-CA" dirty="0"/>
              <a:t>Describe the role of client, server and middleware.</a:t>
            </a:r>
          </a:p>
          <a:p>
            <a:r>
              <a:rPr lang="en-CA" dirty="0"/>
              <a:t>Explain the functions of a server program.</a:t>
            </a:r>
          </a:p>
          <a:p>
            <a:r>
              <a:rPr lang="en-CA" dirty="0"/>
              <a:t>Identify the services required from the client operating system (redirector) and the server operating system.</a:t>
            </a:r>
          </a:p>
          <a:p>
            <a:endParaRPr lang="en-US" dirty="0"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864867227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dirty="0">
                <a:solidFill>
                  <a:srgbClr val="3C3C3C"/>
                </a:solidFill>
              </a:rPr>
              <a:t>End of Networking Concepts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sz="quarter" idx="10"/>
          </p:nvPr>
        </p:nvSpPr>
        <p:spPr>
          <a:solidFill>
            <a:srgbClr val="FFFFFF"/>
          </a:solidFill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>
                <a:latin typeface="Arial"/>
              </a:rPr>
              <a:t>Quiz 2</a:t>
            </a:r>
          </a:p>
        </p:txBody>
      </p:sp>
    </p:spTree>
    <p:extLst>
      <p:ext uri="{BB962C8B-B14F-4D97-AF65-F5344CB8AC3E}">
        <p14:creationId xmlns:p14="http://schemas.microsoft.com/office/powerpoint/2010/main" val="347399226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Module 8</a:t>
            </a:r>
          </a:p>
        </p:txBody>
      </p:sp>
      <p:sp>
        <p:nvSpPr>
          <p:cNvPr id="3" name="Subtitle 2"/>
          <p:cNvSpPr>
            <a:spLocks noGrp="1"/>
          </p:cNvSpPr>
          <p:nvPr>
            <p:ph sz="quarter" idx="10"/>
          </p:nvPr>
        </p:nvSpPr>
        <p:spPr>
          <a:solidFill>
            <a:srgbClr val="FFFFFF"/>
          </a:solidFill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6600" dirty="0">
                <a:latin typeface="Arial"/>
              </a:rPr>
              <a:t>	</a:t>
            </a:r>
          </a:p>
          <a:p>
            <a:pPr marL="0" indent="0">
              <a:buNone/>
            </a:pPr>
            <a:r>
              <a:rPr lang="en-US" sz="6600" dirty="0">
                <a:latin typeface="Arial"/>
              </a:rPr>
              <a:t>	Windows Server</a:t>
            </a:r>
          </a:p>
        </p:txBody>
      </p:sp>
    </p:spTree>
    <p:extLst>
      <p:ext uri="{BB962C8B-B14F-4D97-AF65-F5344CB8AC3E}">
        <p14:creationId xmlns:p14="http://schemas.microsoft.com/office/powerpoint/2010/main" val="2864867227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dirty="0">
                <a:solidFill>
                  <a:srgbClr val="3C3C3C"/>
                </a:solidFill>
                <a:latin typeface="Arial"/>
              </a:rPr>
              <a:t>Lesson Objectives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sz="quarter" idx="10"/>
          </p:nvPr>
        </p:nvSpPr>
        <p:spPr>
          <a:solidFill>
            <a:srgbClr val="FFFFFF"/>
          </a:solidFill>
        </p:spPr>
        <p:txBody>
          <a:bodyPr>
            <a:normAutofit lnSpcReduction="10000"/>
          </a:bodyPr>
          <a:lstStyle/>
          <a:p>
            <a:r>
              <a:rPr lang="en-CA" dirty="0">
                <a:solidFill>
                  <a:schemeClr val="tx1"/>
                </a:solidFill>
              </a:rPr>
              <a:t>Describe the Windows Server security dialog box.</a:t>
            </a:r>
          </a:p>
          <a:p>
            <a:r>
              <a:rPr lang="en-CA" dirty="0">
                <a:solidFill>
                  <a:schemeClr val="tx1"/>
                </a:solidFill>
              </a:rPr>
              <a:t>Modify security settings.</a:t>
            </a:r>
          </a:p>
          <a:p>
            <a:r>
              <a:rPr lang="en-CA" dirty="0">
                <a:solidFill>
                  <a:schemeClr val="tx1"/>
                </a:solidFill>
              </a:rPr>
              <a:t>Describe the use of service packs and hotfixes.</a:t>
            </a:r>
          </a:p>
          <a:p>
            <a:r>
              <a:rPr lang="en-CA" dirty="0">
                <a:solidFill>
                  <a:schemeClr val="tx1"/>
                </a:solidFill>
              </a:rPr>
              <a:t>Use safe mode and last known good.</a:t>
            </a:r>
          </a:p>
          <a:p>
            <a:r>
              <a:rPr lang="en-CA" dirty="0">
                <a:solidFill>
                  <a:schemeClr val="tx1"/>
                </a:solidFill>
              </a:rPr>
              <a:t>Describe system recovery and backup.</a:t>
            </a:r>
          </a:p>
          <a:p>
            <a:r>
              <a:rPr lang="en-CA" dirty="0"/>
              <a:t>Use the Disk Management tool to create and format volumes using the available file types.</a:t>
            </a:r>
          </a:p>
          <a:p>
            <a:r>
              <a:rPr lang="en-CA" dirty="0"/>
              <a:t>Describe Quotas, Compression, EFS, and RAID.</a:t>
            </a:r>
            <a:endParaRPr lang="en-US" dirty="0"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864867227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dirty="0">
                <a:solidFill>
                  <a:srgbClr val="3C3C3C"/>
                </a:solidFill>
                <a:latin typeface="Arial"/>
              </a:rPr>
              <a:t>Windows Server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sz="quarter" idx="10"/>
          </p:nvPr>
        </p:nvSpPr>
        <p:spPr>
          <a:solidFill>
            <a:srgbClr val="FFFFFF"/>
          </a:solidFill>
        </p:spPr>
        <p:txBody>
          <a:bodyPr>
            <a:normAutofit/>
          </a:bodyPr>
          <a:lstStyle/>
          <a:p>
            <a:r>
              <a:rPr lang="en-US" dirty="0">
                <a:latin typeface="Arial"/>
              </a:rPr>
              <a:t>Windows Server</a:t>
            </a:r>
          </a:p>
          <a:p>
            <a:pPr lvl="1"/>
            <a:r>
              <a:rPr lang="en-US" dirty="0">
                <a:latin typeface="Arial"/>
              </a:rPr>
              <a:t>Simply put, servers have a wide variety of uses designed to match the needs of users from small business to corporation.</a:t>
            </a:r>
          </a:p>
          <a:p>
            <a:pPr marL="342900" lvl="1" indent="0">
              <a:buNone/>
            </a:pPr>
            <a:r>
              <a:rPr lang="en-US" dirty="0">
                <a:latin typeface="Arial"/>
              </a:rPr>
              <a:t>Below is a list of server Types</a:t>
            </a:r>
          </a:p>
          <a:p>
            <a:pPr lvl="1"/>
            <a:r>
              <a:rPr lang="en-US" dirty="0">
                <a:latin typeface="Arial"/>
              </a:rPr>
              <a:t>2016 essential edition</a:t>
            </a:r>
          </a:p>
          <a:p>
            <a:pPr lvl="1"/>
            <a:r>
              <a:rPr lang="en-US" dirty="0">
                <a:latin typeface="Arial"/>
              </a:rPr>
              <a:t>Standard Edition</a:t>
            </a:r>
          </a:p>
          <a:p>
            <a:pPr lvl="1"/>
            <a:r>
              <a:rPr lang="en-US" dirty="0">
                <a:latin typeface="Arial"/>
              </a:rPr>
              <a:t>Datacenter Server</a:t>
            </a:r>
          </a:p>
          <a:p>
            <a:pPr lvl="1"/>
            <a:r>
              <a:rPr lang="en-US" dirty="0">
                <a:latin typeface="Arial"/>
              </a:rPr>
              <a:t>Multipoint Premium Server</a:t>
            </a:r>
          </a:p>
          <a:p>
            <a:pPr lvl="1"/>
            <a:r>
              <a:rPr lang="en-US" dirty="0">
                <a:latin typeface="Arial"/>
              </a:rPr>
              <a:t>Storage Server</a:t>
            </a:r>
          </a:p>
          <a:p>
            <a:pPr lvl="1"/>
            <a:r>
              <a:rPr lang="en-US" dirty="0" err="1">
                <a:latin typeface="Arial"/>
              </a:rPr>
              <a:t>Hyper-v</a:t>
            </a:r>
            <a:endParaRPr lang="en-US" dirty="0"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864867227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dirty="0">
                <a:solidFill>
                  <a:srgbClr val="3C3C3C"/>
                </a:solidFill>
              </a:rPr>
              <a:t>Windows Server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sz="quarter" idx="10"/>
          </p:nvPr>
        </p:nvSpPr>
        <p:spPr>
          <a:solidFill>
            <a:srgbClr val="FFFFFF"/>
          </a:solidFill>
        </p:spPr>
        <p:txBody>
          <a:bodyPr>
            <a:normAutofit/>
          </a:bodyPr>
          <a:lstStyle/>
          <a:p>
            <a:r>
              <a:rPr lang="en-US" dirty="0">
                <a:latin typeface="Arial"/>
              </a:rPr>
              <a:t>Installing Windows Server</a:t>
            </a:r>
          </a:p>
          <a:p>
            <a:pPr lvl="1"/>
            <a:r>
              <a:rPr lang="en-US" dirty="0">
                <a:latin typeface="Arial"/>
              </a:rPr>
              <a:t>Choose the server that best supports the company</a:t>
            </a:r>
          </a:p>
          <a:p>
            <a:pPr lvl="1"/>
            <a:r>
              <a:rPr lang="en-US" dirty="0">
                <a:latin typeface="Arial"/>
              </a:rPr>
              <a:t>For our purposes we will be downloading and installing Win server 2016 Datacenter</a:t>
            </a:r>
          </a:p>
          <a:p>
            <a:pPr lvl="1"/>
            <a:r>
              <a:rPr lang="en-US" dirty="0">
                <a:latin typeface="Arial"/>
              </a:rPr>
              <a:t>To ensure our OS is not slow lets give it 2G/4G RAM if available</a:t>
            </a:r>
          </a:p>
          <a:p>
            <a:pPr lvl="1"/>
            <a:r>
              <a:rPr lang="en-US" dirty="0">
                <a:latin typeface="Arial"/>
              </a:rPr>
              <a:t>1CPU</a:t>
            </a:r>
          </a:p>
          <a:p>
            <a:pPr lvl="1"/>
            <a:r>
              <a:rPr lang="en-US" dirty="0">
                <a:latin typeface="Arial"/>
              </a:rPr>
              <a:t>100G of HD space</a:t>
            </a:r>
          </a:p>
        </p:txBody>
      </p:sp>
    </p:spTree>
    <p:extLst>
      <p:ext uri="{BB962C8B-B14F-4D97-AF65-F5344CB8AC3E}">
        <p14:creationId xmlns:p14="http://schemas.microsoft.com/office/powerpoint/2010/main" val="2864867227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dirty="0">
                <a:solidFill>
                  <a:srgbClr val="3C3C3C"/>
                </a:solidFill>
                <a:latin typeface="Arial"/>
              </a:rPr>
              <a:t>Windows Server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sz="quarter" idx="10"/>
          </p:nvPr>
        </p:nvSpPr>
        <p:spPr>
          <a:solidFill>
            <a:srgbClr val="FFFFFF"/>
          </a:solidFill>
        </p:spPr>
        <p:txBody>
          <a:bodyPr>
            <a:normAutofit/>
          </a:bodyPr>
          <a:lstStyle/>
          <a:p>
            <a:r>
              <a:rPr lang="en-US" dirty="0">
                <a:latin typeface="Arial"/>
              </a:rPr>
              <a:t>Server installation Lab</a:t>
            </a:r>
          </a:p>
        </p:txBody>
      </p:sp>
    </p:spTree>
    <p:extLst>
      <p:ext uri="{BB962C8B-B14F-4D97-AF65-F5344CB8AC3E}">
        <p14:creationId xmlns:p14="http://schemas.microsoft.com/office/powerpoint/2010/main" val="2864867227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dirty="0">
                <a:solidFill>
                  <a:srgbClr val="3C3C3C"/>
                </a:solidFill>
              </a:rPr>
              <a:t>Windows Server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sz="quarter" idx="10"/>
          </p:nvPr>
        </p:nvSpPr>
        <p:spPr>
          <a:solidFill>
            <a:srgbClr val="FFFFFF"/>
          </a:solidFill>
        </p:spPr>
        <p:txBody>
          <a:bodyPr>
            <a:normAutofit/>
          </a:bodyPr>
          <a:lstStyle/>
          <a:p>
            <a:r>
              <a:rPr lang="en-US" dirty="0">
                <a:latin typeface="Arial"/>
              </a:rPr>
              <a:t>Server Manager</a:t>
            </a:r>
          </a:p>
          <a:p>
            <a:pPr lvl="1"/>
            <a:r>
              <a:rPr lang="en-US" dirty="0">
                <a:latin typeface="Arial"/>
              </a:rPr>
              <a:t>Once installation is complete, you can begin configuring the server for the following;</a:t>
            </a:r>
          </a:p>
          <a:p>
            <a:pPr lvl="1"/>
            <a:r>
              <a:rPr lang="en-US" dirty="0">
                <a:latin typeface="Arial"/>
              </a:rPr>
              <a:t>Establish server name, configure domain name, or workgroup, setup firewall, remote management and RDP</a:t>
            </a:r>
          </a:p>
          <a:p>
            <a:pPr lvl="1"/>
            <a:r>
              <a:rPr lang="en-US" dirty="0">
                <a:latin typeface="Arial"/>
              </a:rPr>
              <a:t>Configure time zone</a:t>
            </a:r>
          </a:p>
          <a:p>
            <a:pPr lvl="1"/>
            <a:r>
              <a:rPr lang="en-US" dirty="0">
                <a:latin typeface="Arial"/>
              </a:rPr>
              <a:t>Configure IP</a:t>
            </a:r>
          </a:p>
          <a:p>
            <a:pPr lvl="1"/>
            <a:r>
              <a:rPr lang="en-US" dirty="0">
                <a:latin typeface="Arial"/>
              </a:rPr>
              <a:t>Configure server services and monitoring</a:t>
            </a:r>
          </a:p>
          <a:p>
            <a:pPr lvl="1"/>
            <a:r>
              <a:rPr lang="en-US" dirty="0">
                <a:latin typeface="Arial"/>
              </a:rPr>
              <a:t>Installing and managing server roles</a:t>
            </a:r>
          </a:p>
        </p:txBody>
      </p:sp>
    </p:spTree>
    <p:extLst>
      <p:ext uri="{BB962C8B-B14F-4D97-AF65-F5344CB8AC3E}">
        <p14:creationId xmlns:p14="http://schemas.microsoft.com/office/powerpoint/2010/main" val="2864867227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dirty="0">
                <a:solidFill>
                  <a:srgbClr val="3C3C3C"/>
                </a:solidFill>
              </a:rPr>
              <a:t>Windows Server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sz="quarter" idx="10"/>
          </p:nvPr>
        </p:nvSpPr>
        <p:spPr>
          <a:solidFill>
            <a:srgbClr val="FFFFFF"/>
          </a:solidFill>
        </p:spPr>
        <p:txBody>
          <a:bodyPr>
            <a:normAutofit/>
          </a:bodyPr>
          <a:lstStyle/>
          <a:p>
            <a:r>
              <a:rPr lang="en-US" dirty="0">
                <a:latin typeface="Arial"/>
              </a:rPr>
              <a:t>Service packs</a:t>
            </a:r>
          </a:p>
          <a:p>
            <a:pPr lvl="1"/>
            <a:r>
              <a:rPr lang="en-CA" dirty="0"/>
              <a:t>make Windows more reliable.</a:t>
            </a:r>
          </a:p>
          <a:p>
            <a:pPr lvl="1"/>
            <a:endParaRPr lang="en-CA" dirty="0"/>
          </a:p>
          <a:p>
            <a:r>
              <a:rPr lang="en-US" dirty="0">
                <a:latin typeface="Arial"/>
              </a:rPr>
              <a:t>Hotfix</a:t>
            </a:r>
          </a:p>
          <a:p>
            <a:pPr lvl="1"/>
            <a:r>
              <a:rPr lang="en-CA" dirty="0"/>
              <a:t>A hotfix or quick-fix engineering update (QFE update)</a:t>
            </a:r>
          </a:p>
        </p:txBody>
      </p:sp>
    </p:spTree>
    <p:extLst>
      <p:ext uri="{BB962C8B-B14F-4D97-AF65-F5344CB8AC3E}">
        <p14:creationId xmlns:p14="http://schemas.microsoft.com/office/powerpoint/2010/main" val="2864867227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dirty="0">
                <a:solidFill>
                  <a:srgbClr val="3C3C3C"/>
                </a:solidFill>
                <a:latin typeface="Arial"/>
              </a:rPr>
              <a:t>Windows Server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sz="quarter" idx="10"/>
          </p:nvPr>
        </p:nvSpPr>
        <p:spPr>
          <a:solidFill>
            <a:srgbClr val="FFFFFF"/>
          </a:solidFill>
        </p:spPr>
        <p:txBody>
          <a:bodyPr>
            <a:normAutofit/>
          </a:bodyPr>
          <a:lstStyle/>
          <a:p>
            <a:r>
              <a:rPr lang="en-US" dirty="0">
                <a:latin typeface="Arial"/>
              </a:rPr>
              <a:t>Safe Mode</a:t>
            </a:r>
          </a:p>
          <a:p>
            <a:pPr lvl="1"/>
            <a:r>
              <a:rPr lang="en-US" dirty="0">
                <a:latin typeface="Arial"/>
              </a:rPr>
              <a:t>Used for troubleshooting purposes</a:t>
            </a:r>
          </a:p>
          <a:p>
            <a:pPr lvl="1"/>
            <a:r>
              <a:rPr lang="en-US" dirty="0">
                <a:latin typeface="Arial"/>
              </a:rPr>
              <a:t>3 ways to boot into safe mode</a:t>
            </a:r>
          </a:p>
          <a:p>
            <a:pPr lvl="1"/>
            <a:endParaRPr lang="en-US" dirty="0">
              <a:latin typeface="Arial"/>
            </a:endParaRPr>
          </a:p>
          <a:p>
            <a:r>
              <a:rPr lang="en-US" dirty="0">
                <a:latin typeface="Arial"/>
              </a:rPr>
              <a:t>Last known good</a:t>
            </a:r>
          </a:p>
          <a:p>
            <a:pPr lvl="1"/>
            <a:r>
              <a:rPr lang="en-US" dirty="0"/>
              <a:t>Is a recovery option built into all versions of windows</a:t>
            </a:r>
          </a:p>
          <a:p>
            <a:pPr marL="342900" lvl="1" indent="0">
              <a:buNone/>
            </a:pPr>
            <a:endParaRPr lang="en-US" dirty="0">
              <a:latin typeface="Arial"/>
            </a:endParaRPr>
          </a:p>
          <a:p>
            <a:endParaRPr lang="en-CA" dirty="0"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864867227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dirty="0">
                <a:solidFill>
                  <a:srgbClr val="3C3C3C"/>
                </a:solidFill>
                <a:latin typeface="Arial"/>
              </a:rPr>
              <a:t>Windows Server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sz="quarter" idx="10"/>
          </p:nvPr>
        </p:nvSpPr>
        <p:spPr>
          <a:solidFill>
            <a:srgbClr val="FFFFFF"/>
          </a:solidFill>
        </p:spPr>
        <p:txBody>
          <a:bodyPr>
            <a:normAutofit/>
          </a:bodyPr>
          <a:lstStyle/>
          <a:p>
            <a:r>
              <a:rPr lang="en-US" dirty="0">
                <a:latin typeface="Arial"/>
              </a:rPr>
              <a:t>Quiz3</a:t>
            </a:r>
          </a:p>
        </p:txBody>
      </p:sp>
    </p:spTree>
    <p:extLst>
      <p:ext uri="{BB962C8B-B14F-4D97-AF65-F5344CB8AC3E}">
        <p14:creationId xmlns:p14="http://schemas.microsoft.com/office/powerpoint/2010/main" val="1225581963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dirty="0">
                <a:solidFill>
                  <a:srgbClr val="3C3C3C"/>
                </a:solidFill>
                <a:latin typeface="Arial"/>
              </a:rPr>
              <a:t>Module 9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sz="quarter" idx="10"/>
          </p:nvPr>
        </p:nvSpPr>
        <p:spPr>
          <a:solidFill>
            <a:srgbClr val="FFFFFF"/>
          </a:solidFill>
        </p:spPr>
        <p:txBody>
          <a:bodyPr>
            <a:normAutofit/>
          </a:bodyPr>
          <a:lstStyle/>
          <a:p>
            <a:pPr marL="342900" lvl="1" indent="0">
              <a:buNone/>
            </a:pPr>
            <a:r>
              <a:rPr lang="en-US" sz="6200" dirty="0">
                <a:latin typeface="Arial"/>
              </a:rPr>
              <a:t>	</a:t>
            </a:r>
          </a:p>
          <a:p>
            <a:pPr marL="342900" lvl="1" indent="0">
              <a:buNone/>
            </a:pPr>
            <a:r>
              <a:rPr lang="en-US" sz="6200" dirty="0">
                <a:latin typeface="Arial"/>
              </a:rPr>
              <a:t>	File Server and 			  Backup</a:t>
            </a:r>
          </a:p>
        </p:txBody>
      </p:sp>
    </p:spTree>
    <p:extLst>
      <p:ext uri="{BB962C8B-B14F-4D97-AF65-F5344CB8AC3E}">
        <p14:creationId xmlns:p14="http://schemas.microsoft.com/office/powerpoint/2010/main" val="2864867227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dirty="0">
                <a:solidFill>
                  <a:srgbClr val="3C3C3C"/>
                </a:solidFill>
                <a:latin typeface="Arial"/>
              </a:rPr>
              <a:t>File Server &amp; Backup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sz="quarter" idx="10"/>
          </p:nvPr>
        </p:nvSpPr>
        <p:spPr>
          <a:solidFill>
            <a:srgbClr val="FFFFFF"/>
          </a:solidFill>
        </p:spPr>
        <p:txBody>
          <a:bodyPr>
            <a:normAutofit/>
          </a:bodyPr>
          <a:lstStyle/>
          <a:p>
            <a:r>
              <a:rPr lang="en-US" dirty="0">
                <a:latin typeface="Arial"/>
              </a:rPr>
              <a:t>System Recovery and Backup</a:t>
            </a:r>
          </a:p>
          <a:p>
            <a:pPr lvl="1"/>
            <a:r>
              <a:rPr lang="en-US" dirty="0">
                <a:latin typeface="Arial"/>
              </a:rPr>
              <a:t>What is Backup?</a:t>
            </a:r>
          </a:p>
          <a:p>
            <a:pPr lvl="1"/>
            <a:r>
              <a:rPr lang="en-US" dirty="0">
                <a:latin typeface="Arial"/>
              </a:rPr>
              <a:t>Do not confuse with System Image</a:t>
            </a:r>
          </a:p>
          <a:p>
            <a:pPr lvl="1"/>
            <a:r>
              <a:rPr lang="en-US" dirty="0">
                <a:latin typeface="Arial"/>
              </a:rPr>
              <a:t>Introduced in server 2008 R2</a:t>
            </a:r>
          </a:p>
          <a:p>
            <a:pPr lvl="1"/>
            <a:r>
              <a:rPr lang="en-US" dirty="0">
                <a:latin typeface="Arial"/>
              </a:rPr>
              <a:t>Can do full and incremental backup</a:t>
            </a:r>
          </a:p>
        </p:txBody>
      </p:sp>
    </p:spTree>
    <p:extLst>
      <p:ext uri="{BB962C8B-B14F-4D97-AF65-F5344CB8AC3E}">
        <p14:creationId xmlns:p14="http://schemas.microsoft.com/office/powerpoint/2010/main" val="820844224"/>
      </p:ext>
    </p:extLst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dirty="0">
                <a:solidFill>
                  <a:srgbClr val="3C3C3C"/>
                </a:solidFill>
                <a:latin typeface="Arial"/>
              </a:rPr>
              <a:t>File Server &amp; Backup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sz="quarter" idx="10"/>
          </p:nvPr>
        </p:nvSpPr>
        <p:spPr>
          <a:solidFill>
            <a:srgbClr val="FFFFFF"/>
          </a:solidFill>
        </p:spPr>
        <p:txBody>
          <a:bodyPr>
            <a:normAutofit/>
          </a:bodyPr>
          <a:lstStyle/>
          <a:p>
            <a:r>
              <a:rPr lang="en-US" dirty="0">
                <a:latin typeface="Arial"/>
              </a:rPr>
              <a:t>Backup options </a:t>
            </a:r>
          </a:p>
          <a:p>
            <a:pPr lvl="1"/>
            <a:r>
              <a:rPr lang="en-US" dirty="0">
                <a:latin typeface="Arial"/>
              </a:rPr>
              <a:t>Full backup </a:t>
            </a:r>
          </a:p>
          <a:p>
            <a:pPr lvl="1"/>
            <a:r>
              <a:rPr lang="en-US" dirty="0">
                <a:latin typeface="Arial"/>
              </a:rPr>
              <a:t>Incremental</a:t>
            </a:r>
          </a:p>
          <a:p>
            <a:pPr lvl="1"/>
            <a:r>
              <a:rPr lang="en-US" dirty="0">
                <a:latin typeface="Arial"/>
              </a:rPr>
              <a:t>Custom backup</a:t>
            </a:r>
          </a:p>
          <a:p>
            <a:pPr lvl="1"/>
            <a:endParaRPr lang="en-US" dirty="0">
              <a:latin typeface="Arial"/>
            </a:endParaRPr>
          </a:p>
          <a:p>
            <a:r>
              <a:rPr lang="en-US" dirty="0">
                <a:latin typeface="Arial"/>
              </a:rPr>
              <a:t>Performing recovery</a:t>
            </a:r>
          </a:p>
          <a:p>
            <a:pPr lvl="1"/>
            <a:r>
              <a:rPr lang="en-US" dirty="0"/>
              <a:t>Can be performed via network connected, local or removable media</a:t>
            </a:r>
          </a:p>
          <a:p>
            <a:pPr lvl="1"/>
            <a:r>
              <a:rPr lang="en-US" dirty="0">
                <a:latin typeface="Arial"/>
              </a:rPr>
              <a:t> </a:t>
            </a:r>
          </a:p>
          <a:p>
            <a:pPr lvl="1"/>
            <a:endParaRPr lang="en-US" dirty="0"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864867227"/>
      </p:ext>
    </p:extLst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dirty="0">
                <a:solidFill>
                  <a:srgbClr val="3C3C3C"/>
                </a:solidFill>
                <a:latin typeface="Arial"/>
              </a:rPr>
              <a:t>File Server &amp; Backup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sz="quarter" idx="10"/>
          </p:nvPr>
        </p:nvSpPr>
        <p:spPr>
          <a:solidFill>
            <a:srgbClr val="FFFFFF"/>
          </a:solidFill>
        </p:spPr>
        <p:txBody>
          <a:bodyPr>
            <a:normAutofit/>
          </a:bodyPr>
          <a:lstStyle/>
          <a:p>
            <a:r>
              <a:rPr lang="en-US" dirty="0">
                <a:latin typeface="Arial"/>
              </a:rPr>
              <a:t>Quotas</a:t>
            </a:r>
          </a:p>
          <a:p>
            <a:pPr lvl="1"/>
            <a:r>
              <a:rPr lang="en-US" dirty="0">
                <a:latin typeface="Arial"/>
              </a:rPr>
              <a:t>With NTFS its possible to setup Quotas on shares</a:t>
            </a:r>
          </a:p>
          <a:p>
            <a:pPr lvl="1"/>
            <a:r>
              <a:rPr lang="en-US" dirty="0">
                <a:latin typeface="Arial"/>
              </a:rPr>
              <a:t>Quotas are set on the drive letter</a:t>
            </a:r>
          </a:p>
          <a:p>
            <a:pPr lvl="1"/>
            <a:endParaRPr lang="en-US" dirty="0">
              <a:latin typeface="Arial"/>
            </a:endParaRPr>
          </a:p>
          <a:p>
            <a:r>
              <a:rPr lang="en-US" dirty="0">
                <a:latin typeface="Arial"/>
              </a:rPr>
              <a:t>Compression </a:t>
            </a:r>
          </a:p>
          <a:p>
            <a:pPr lvl="1"/>
            <a:r>
              <a:rPr lang="en-US" dirty="0"/>
              <a:t>A folder and its contents can be stored on the disk in compressed format</a:t>
            </a:r>
          </a:p>
          <a:p>
            <a:pPr lvl="1"/>
            <a:endParaRPr lang="en-US" dirty="0">
              <a:latin typeface="Arial"/>
            </a:endParaRPr>
          </a:p>
          <a:p>
            <a:pPr lvl="1"/>
            <a:endParaRPr lang="en-US" dirty="0">
              <a:latin typeface="Arial"/>
            </a:endParaRPr>
          </a:p>
          <a:p>
            <a:pPr lvl="1"/>
            <a:endParaRPr lang="en-US" dirty="0"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864867227"/>
      </p:ext>
    </p:extLst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dirty="0">
                <a:solidFill>
                  <a:srgbClr val="3C3C3C"/>
                </a:solidFill>
                <a:latin typeface="Arial"/>
              </a:rPr>
              <a:t>File Server &amp; Backup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sz="quarter" idx="10"/>
          </p:nvPr>
        </p:nvSpPr>
        <p:spPr>
          <a:solidFill>
            <a:srgbClr val="FFFFFF"/>
          </a:solidFill>
        </p:spPr>
        <p:txBody>
          <a:bodyPr>
            <a:normAutofit/>
          </a:bodyPr>
          <a:lstStyle/>
          <a:p>
            <a:r>
              <a:rPr lang="en-US" dirty="0">
                <a:latin typeface="Arial"/>
              </a:rPr>
              <a:t>Encryption </a:t>
            </a:r>
          </a:p>
          <a:p>
            <a:pPr lvl="1"/>
            <a:r>
              <a:rPr lang="en-US" dirty="0">
                <a:latin typeface="Arial"/>
              </a:rPr>
              <a:t>Simply allows users who have the encryption/recovery key can read the file</a:t>
            </a:r>
          </a:p>
          <a:p>
            <a:pPr lvl="1"/>
            <a:r>
              <a:rPr lang="en-US" dirty="0">
                <a:latin typeface="Arial"/>
              </a:rPr>
              <a:t>Provides a Security measure</a:t>
            </a:r>
          </a:p>
        </p:txBody>
      </p:sp>
    </p:spTree>
    <p:extLst>
      <p:ext uri="{BB962C8B-B14F-4D97-AF65-F5344CB8AC3E}">
        <p14:creationId xmlns:p14="http://schemas.microsoft.com/office/powerpoint/2010/main" val="2864867227"/>
      </p:ext>
    </p:extLst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dirty="0">
                <a:solidFill>
                  <a:srgbClr val="3C3C3C"/>
                </a:solidFill>
                <a:latin typeface="Arial"/>
              </a:rPr>
              <a:t>File Server &amp; Backup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sz="quarter" idx="10"/>
          </p:nvPr>
        </p:nvSpPr>
        <p:spPr>
          <a:solidFill>
            <a:srgbClr val="FFFFFF"/>
          </a:solidFill>
        </p:spPr>
        <p:txBody>
          <a:bodyPr>
            <a:normAutofit/>
          </a:bodyPr>
          <a:lstStyle/>
          <a:p>
            <a:r>
              <a:rPr lang="en-US" dirty="0">
                <a:latin typeface="Arial"/>
              </a:rPr>
              <a:t>RAID Task (on your own)</a:t>
            </a:r>
          </a:p>
          <a:p>
            <a:r>
              <a:rPr lang="en-US" dirty="0">
                <a:latin typeface="Arial"/>
              </a:rPr>
              <a:t>Describe RAID</a:t>
            </a:r>
          </a:p>
          <a:p>
            <a:r>
              <a:rPr lang="en-US" dirty="0">
                <a:latin typeface="Arial"/>
              </a:rPr>
              <a:t>Describe RAID Level</a:t>
            </a:r>
          </a:p>
          <a:p>
            <a:r>
              <a:rPr lang="en-US" dirty="0">
                <a:latin typeface="Arial"/>
              </a:rPr>
              <a:t>Which is the best one to be used in a company</a:t>
            </a:r>
          </a:p>
          <a:p>
            <a:r>
              <a:rPr lang="en-US" dirty="0">
                <a:latin typeface="Arial"/>
              </a:rPr>
              <a:t>Hand in your assignment  </a:t>
            </a:r>
          </a:p>
        </p:txBody>
      </p:sp>
    </p:spTree>
    <p:extLst>
      <p:ext uri="{BB962C8B-B14F-4D97-AF65-F5344CB8AC3E}">
        <p14:creationId xmlns:p14="http://schemas.microsoft.com/office/powerpoint/2010/main" val="2864867227"/>
      </p:ext>
    </p:extLst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dirty="0">
                <a:solidFill>
                  <a:srgbClr val="3C3C3C"/>
                </a:solidFill>
                <a:latin typeface="Arial"/>
              </a:rPr>
              <a:t>File Server &amp; Backup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sz="quarter" idx="10"/>
          </p:nvPr>
        </p:nvSpPr>
        <p:spPr>
          <a:solidFill>
            <a:srgbClr val="FFFFFF"/>
          </a:solidFill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>
                <a:latin typeface="Arial"/>
              </a:rPr>
              <a:t>LAB 2</a:t>
            </a:r>
          </a:p>
          <a:p>
            <a:pPr marL="0" indent="0">
              <a:buNone/>
            </a:pPr>
            <a:r>
              <a:rPr lang="en-US" dirty="0">
                <a:latin typeface="Arial"/>
              </a:rPr>
              <a:t>Quiz4</a:t>
            </a:r>
          </a:p>
        </p:txBody>
      </p:sp>
    </p:spTree>
    <p:extLst>
      <p:ext uri="{BB962C8B-B14F-4D97-AF65-F5344CB8AC3E}">
        <p14:creationId xmlns:p14="http://schemas.microsoft.com/office/powerpoint/2010/main" val="261343963"/>
      </p:ext>
    </p:extLst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dirty="0">
                <a:solidFill>
                  <a:srgbClr val="3C3C3C"/>
                </a:solidFill>
                <a:latin typeface="Arial"/>
              </a:rPr>
              <a:t>Module 10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sz="quarter" idx="10"/>
          </p:nvPr>
        </p:nvSpPr>
        <p:spPr>
          <a:solidFill>
            <a:srgbClr val="FFFFFF"/>
          </a:solidFill>
        </p:spPr>
        <p:txBody>
          <a:bodyPr>
            <a:normAutofit/>
          </a:bodyPr>
          <a:lstStyle/>
          <a:p>
            <a:pPr marL="0" indent="0" algn="ctr">
              <a:buNone/>
            </a:pPr>
            <a:endParaRPr lang="en-CA" sz="6600" dirty="0"/>
          </a:p>
          <a:p>
            <a:pPr marL="0" indent="0" algn="ctr">
              <a:buNone/>
            </a:pPr>
            <a:r>
              <a:rPr lang="en-CA" sz="6600" dirty="0">
                <a:latin typeface="Arial"/>
              </a:rPr>
              <a:t>Window Active</a:t>
            </a:r>
          </a:p>
          <a:p>
            <a:pPr marL="0" indent="0" algn="ctr">
              <a:buNone/>
            </a:pPr>
            <a:r>
              <a:rPr lang="en-CA" sz="6600" dirty="0">
                <a:latin typeface="Arial"/>
              </a:rPr>
              <a:t>Directory</a:t>
            </a:r>
            <a:endParaRPr lang="en-US" sz="6600" dirty="0"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864867227"/>
      </p:ext>
    </p:extLst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dirty="0">
                <a:solidFill>
                  <a:srgbClr val="3C3C3C"/>
                </a:solidFill>
              </a:rPr>
              <a:t>Lesson Objectives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sz="quarter" idx="10"/>
          </p:nvPr>
        </p:nvSpPr>
        <p:spPr>
          <a:solidFill>
            <a:srgbClr val="FFFFFF"/>
          </a:solidFill>
        </p:spPr>
        <p:txBody>
          <a:bodyPr>
            <a:normAutofit/>
          </a:bodyPr>
          <a:lstStyle/>
          <a:p>
            <a:r>
              <a:rPr lang="en-CA" dirty="0"/>
              <a:t>Describe active directory and Microsoft domains and compare to workgroups.</a:t>
            </a:r>
          </a:p>
          <a:p>
            <a:r>
              <a:rPr lang="en-CA" dirty="0"/>
              <a:t>Join a domain.</a:t>
            </a:r>
          </a:p>
          <a:p>
            <a:r>
              <a:rPr lang="en-CA" dirty="0"/>
              <a:t>Compare a local and global user account.</a:t>
            </a:r>
          </a:p>
          <a:p>
            <a:r>
              <a:rPr lang="en-CA" dirty="0"/>
              <a:t>Discuss synchronization of more than one domain controller as it pertains to</a:t>
            </a:r>
          </a:p>
          <a:p>
            <a:r>
              <a:rPr lang="en-CA" dirty="0"/>
              <a:t>creating and revising user accounts.</a:t>
            </a:r>
            <a:endParaRPr lang="en-US" dirty="0"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4216714407"/>
      </p:ext>
    </p:extLst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dirty="0">
                <a:solidFill>
                  <a:srgbClr val="3C3C3C"/>
                </a:solidFill>
                <a:latin typeface="Arial"/>
              </a:rPr>
              <a:t>Windows AD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sz="quarter" idx="10"/>
          </p:nvPr>
        </p:nvSpPr>
        <p:spPr>
          <a:solidFill>
            <a:srgbClr val="FFFFFF"/>
          </a:solidFill>
        </p:spPr>
        <p:txBody>
          <a:bodyPr>
            <a:normAutofit/>
          </a:bodyPr>
          <a:lstStyle/>
          <a:p>
            <a:r>
              <a:rPr lang="en-US" dirty="0">
                <a:latin typeface="Arial"/>
              </a:rPr>
              <a:t>Active Directory</a:t>
            </a:r>
          </a:p>
          <a:p>
            <a:pPr lvl="1"/>
            <a:r>
              <a:rPr lang="en-US" dirty="0">
                <a:latin typeface="Arial"/>
              </a:rPr>
              <a:t>Houses information </a:t>
            </a:r>
          </a:p>
          <a:p>
            <a:pPr lvl="1"/>
            <a:r>
              <a:rPr lang="en-US" dirty="0">
                <a:latin typeface="Arial"/>
              </a:rPr>
              <a:t>Fundamental component </a:t>
            </a:r>
          </a:p>
          <a:p>
            <a:pPr lvl="1"/>
            <a:r>
              <a:rPr lang="en-US" dirty="0">
                <a:latin typeface="Arial"/>
              </a:rPr>
              <a:t>Domain is a higher level representation </a:t>
            </a:r>
          </a:p>
          <a:p>
            <a:pPr lvl="1"/>
            <a:r>
              <a:rPr lang="en-US" dirty="0">
                <a:latin typeface="Arial"/>
              </a:rPr>
              <a:t>Geographical locations</a:t>
            </a:r>
          </a:p>
        </p:txBody>
      </p:sp>
    </p:spTree>
    <p:extLst>
      <p:ext uri="{BB962C8B-B14F-4D97-AF65-F5344CB8AC3E}">
        <p14:creationId xmlns:p14="http://schemas.microsoft.com/office/powerpoint/2010/main" val="2864867227"/>
      </p:ext>
    </p:extLst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dirty="0">
                <a:solidFill>
                  <a:srgbClr val="3C3C3C"/>
                </a:solidFill>
                <a:latin typeface="Arial"/>
              </a:rPr>
              <a:t>Windows AD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sz="quarter" idx="10"/>
          </p:nvPr>
        </p:nvSpPr>
        <p:spPr>
          <a:solidFill>
            <a:srgbClr val="FFFFFF"/>
          </a:solidFill>
        </p:spPr>
        <p:txBody>
          <a:bodyPr>
            <a:normAutofit/>
          </a:bodyPr>
          <a:lstStyle/>
          <a:p>
            <a:r>
              <a:rPr lang="en-US" dirty="0">
                <a:latin typeface="Arial"/>
              </a:rPr>
              <a:t>Install AD lab3</a:t>
            </a:r>
          </a:p>
        </p:txBody>
      </p:sp>
    </p:spTree>
    <p:extLst>
      <p:ext uri="{BB962C8B-B14F-4D97-AF65-F5344CB8AC3E}">
        <p14:creationId xmlns:p14="http://schemas.microsoft.com/office/powerpoint/2010/main" val="2864867227"/>
      </p:ext>
    </p:extLst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dirty="0">
                <a:solidFill>
                  <a:srgbClr val="3C3C3C"/>
                </a:solidFill>
                <a:latin typeface="Arial"/>
              </a:rPr>
              <a:t>Module 11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sz="quarter" idx="10"/>
          </p:nvPr>
        </p:nvSpPr>
        <p:spPr>
          <a:solidFill>
            <a:srgbClr val="FFFFFF"/>
          </a:solidFill>
        </p:spPr>
        <p:txBody>
          <a:bodyPr>
            <a:normAutofit/>
          </a:bodyPr>
          <a:lstStyle/>
          <a:p>
            <a:pPr marL="0" indent="0" algn="ctr">
              <a:buNone/>
            </a:pPr>
            <a:endParaRPr lang="en-CA" sz="6600" dirty="0"/>
          </a:p>
          <a:p>
            <a:pPr marL="0" indent="0" algn="ctr">
              <a:buNone/>
            </a:pPr>
            <a:r>
              <a:rPr lang="en-CA" sz="6600" dirty="0"/>
              <a:t>AD Groups</a:t>
            </a:r>
          </a:p>
        </p:txBody>
      </p:sp>
    </p:spTree>
    <p:extLst>
      <p:ext uri="{BB962C8B-B14F-4D97-AF65-F5344CB8AC3E}">
        <p14:creationId xmlns:p14="http://schemas.microsoft.com/office/powerpoint/2010/main" val="2864867227"/>
      </p:ext>
    </p:extLst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dirty="0">
                <a:solidFill>
                  <a:srgbClr val="3C3C3C"/>
                </a:solidFill>
              </a:rPr>
              <a:t>Lesson Objectives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sz="quarter" idx="10"/>
          </p:nvPr>
        </p:nvSpPr>
        <p:spPr>
          <a:solidFill>
            <a:srgbClr val="FFFFFF"/>
          </a:solidFill>
        </p:spPr>
        <p:txBody>
          <a:bodyPr>
            <a:normAutofit/>
          </a:bodyPr>
          <a:lstStyle/>
          <a:p>
            <a:r>
              <a:rPr lang="en-CA" dirty="0"/>
              <a:t>Distinguish between local and global groups.</a:t>
            </a:r>
          </a:p>
          <a:p>
            <a:r>
              <a:rPr lang="en-CA" dirty="0"/>
              <a:t>Discuss the uses of local and global groups.</a:t>
            </a:r>
          </a:p>
          <a:p>
            <a:r>
              <a:rPr lang="en-CA" dirty="0"/>
              <a:t>Compare a local group with a domain local group.</a:t>
            </a:r>
          </a:p>
        </p:txBody>
      </p:sp>
    </p:spTree>
    <p:extLst>
      <p:ext uri="{BB962C8B-B14F-4D97-AF65-F5344CB8AC3E}">
        <p14:creationId xmlns:p14="http://schemas.microsoft.com/office/powerpoint/2010/main" val="3279210366"/>
      </p:ext>
    </p:extLst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dirty="0">
                <a:solidFill>
                  <a:srgbClr val="3C3C3C"/>
                </a:solidFill>
                <a:latin typeface="Arial"/>
              </a:rPr>
              <a:t>Groups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sz="quarter" idx="10"/>
          </p:nvPr>
        </p:nvSpPr>
        <p:spPr>
          <a:solidFill>
            <a:srgbClr val="FFFFFF"/>
          </a:solidFill>
        </p:spPr>
        <p:txBody>
          <a:bodyPr>
            <a:normAutofit/>
          </a:bodyPr>
          <a:lstStyle/>
          <a:p>
            <a:r>
              <a:rPr lang="en-US" dirty="0">
                <a:latin typeface="Arial"/>
              </a:rPr>
              <a:t>In AD you set up security Groups depending on what you need to accomplish.  These groups are;</a:t>
            </a:r>
          </a:p>
          <a:p>
            <a:r>
              <a:rPr lang="en-US" dirty="0">
                <a:latin typeface="Arial"/>
              </a:rPr>
              <a:t>Local Security Group</a:t>
            </a:r>
          </a:p>
          <a:p>
            <a:r>
              <a:rPr lang="en-US" dirty="0">
                <a:latin typeface="Arial"/>
              </a:rPr>
              <a:t>Domain Local Security Group</a:t>
            </a:r>
          </a:p>
          <a:p>
            <a:r>
              <a:rPr lang="en-US" dirty="0">
                <a:latin typeface="Arial"/>
              </a:rPr>
              <a:t>Global Security Group</a:t>
            </a:r>
          </a:p>
        </p:txBody>
      </p:sp>
    </p:spTree>
    <p:extLst>
      <p:ext uri="{BB962C8B-B14F-4D97-AF65-F5344CB8AC3E}">
        <p14:creationId xmlns:p14="http://schemas.microsoft.com/office/powerpoint/2010/main" val="2864867227"/>
      </p:ext>
    </p:extLst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dirty="0">
                <a:solidFill>
                  <a:srgbClr val="3C3C3C"/>
                </a:solidFill>
                <a:latin typeface="Arial"/>
              </a:rPr>
              <a:t>Groups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sz="quarter" idx="10"/>
          </p:nvPr>
        </p:nvSpPr>
        <p:spPr>
          <a:solidFill>
            <a:srgbClr val="FFFFFF"/>
          </a:solidFill>
        </p:spPr>
        <p:txBody>
          <a:bodyPr>
            <a:normAutofit/>
          </a:bodyPr>
          <a:lstStyle/>
          <a:p>
            <a:r>
              <a:rPr lang="en-US" dirty="0">
                <a:latin typeface="Arial"/>
              </a:rPr>
              <a:t>Group Properties</a:t>
            </a:r>
          </a:p>
          <a:p>
            <a:pPr lvl="1"/>
            <a:r>
              <a:rPr lang="en-US" dirty="0">
                <a:latin typeface="Arial"/>
              </a:rPr>
              <a:t>General </a:t>
            </a:r>
          </a:p>
          <a:p>
            <a:pPr lvl="1"/>
            <a:r>
              <a:rPr lang="en-US" dirty="0">
                <a:latin typeface="Arial"/>
              </a:rPr>
              <a:t>Members </a:t>
            </a:r>
          </a:p>
          <a:p>
            <a:pPr lvl="1"/>
            <a:r>
              <a:rPr lang="en-US" dirty="0">
                <a:latin typeface="Arial"/>
              </a:rPr>
              <a:t>Member of </a:t>
            </a:r>
          </a:p>
          <a:p>
            <a:pPr lvl="1"/>
            <a:r>
              <a:rPr lang="en-US" dirty="0">
                <a:latin typeface="Arial"/>
              </a:rPr>
              <a:t>Managed by</a:t>
            </a:r>
          </a:p>
        </p:txBody>
      </p:sp>
    </p:spTree>
    <p:extLst>
      <p:ext uri="{BB962C8B-B14F-4D97-AF65-F5344CB8AC3E}">
        <p14:creationId xmlns:p14="http://schemas.microsoft.com/office/powerpoint/2010/main" val="2864867227"/>
      </p:ext>
    </p:extLst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dirty="0">
                <a:solidFill>
                  <a:srgbClr val="3C3C3C"/>
                </a:solidFill>
                <a:latin typeface="Arial"/>
              </a:rPr>
              <a:t>Groups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sz="quarter" idx="10"/>
          </p:nvPr>
        </p:nvSpPr>
        <p:spPr>
          <a:solidFill>
            <a:srgbClr val="FFFFFF"/>
          </a:solidFill>
        </p:spPr>
        <p:txBody>
          <a:bodyPr>
            <a:normAutofit/>
          </a:bodyPr>
          <a:lstStyle/>
          <a:p>
            <a:r>
              <a:rPr lang="en-US" dirty="0">
                <a:latin typeface="Arial"/>
              </a:rPr>
              <a:t>LAB 4</a:t>
            </a:r>
          </a:p>
          <a:p>
            <a:r>
              <a:rPr lang="en-US" dirty="0">
                <a:latin typeface="Arial"/>
              </a:rPr>
              <a:t>Lab 5</a:t>
            </a:r>
          </a:p>
        </p:txBody>
      </p:sp>
    </p:spTree>
    <p:extLst>
      <p:ext uri="{BB962C8B-B14F-4D97-AF65-F5344CB8AC3E}">
        <p14:creationId xmlns:p14="http://schemas.microsoft.com/office/powerpoint/2010/main" val="2864867227"/>
      </p:ext>
    </p:extLst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dirty="0">
                <a:solidFill>
                  <a:srgbClr val="3C3C3C"/>
                </a:solidFill>
                <a:latin typeface="Arial"/>
              </a:rPr>
              <a:t>Module 12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sz="quarter" idx="10"/>
          </p:nvPr>
        </p:nvSpPr>
        <p:spPr>
          <a:solidFill>
            <a:srgbClr val="FFFFFF"/>
          </a:solidFill>
        </p:spPr>
        <p:txBody>
          <a:bodyPr>
            <a:normAutofit/>
          </a:bodyPr>
          <a:lstStyle/>
          <a:p>
            <a:pPr marL="0" indent="0" algn="ctr">
              <a:buNone/>
            </a:pPr>
            <a:endParaRPr lang="en-US" sz="6600" dirty="0">
              <a:latin typeface="Arial"/>
            </a:endParaRPr>
          </a:p>
          <a:p>
            <a:pPr marL="0" indent="0" algn="ctr">
              <a:buNone/>
            </a:pPr>
            <a:r>
              <a:rPr lang="en-US" sz="6600" dirty="0">
                <a:latin typeface="Arial"/>
              </a:rPr>
              <a:t>Accounts and Folders</a:t>
            </a:r>
          </a:p>
        </p:txBody>
      </p:sp>
    </p:spTree>
    <p:extLst>
      <p:ext uri="{BB962C8B-B14F-4D97-AF65-F5344CB8AC3E}">
        <p14:creationId xmlns:p14="http://schemas.microsoft.com/office/powerpoint/2010/main" val="915265862"/>
      </p:ext>
    </p:extLst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dirty="0">
                <a:solidFill>
                  <a:srgbClr val="3C3C3C"/>
                </a:solidFill>
              </a:rPr>
              <a:t>Lesson Objective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sz="quarter" idx="10"/>
          </p:nvPr>
        </p:nvSpPr>
        <p:spPr>
          <a:solidFill>
            <a:srgbClr val="FFFFFF"/>
          </a:solidFill>
        </p:spPr>
        <p:txBody>
          <a:bodyPr>
            <a:normAutofit fontScale="92500" lnSpcReduction="10000"/>
          </a:bodyPr>
          <a:lstStyle/>
          <a:p>
            <a:r>
              <a:rPr lang="en-CA" dirty="0"/>
              <a:t>Explain basic terminology used in administering user and group accounts.</a:t>
            </a:r>
          </a:p>
          <a:p>
            <a:r>
              <a:rPr lang="en-CA" dirty="0"/>
              <a:t>Identify the factors influencing the standardization of user and group accounts.</a:t>
            </a:r>
          </a:p>
          <a:p>
            <a:r>
              <a:rPr lang="en-CA" dirty="0"/>
              <a:t>Explain shared folders.</a:t>
            </a:r>
          </a:p>
          <a:p>
            <a:r>
              <a:rPr lang="en-CA" dirty="0"/>
              <a:t>Describe the application of shared folder permissions.</a:t>
            </a:r>
          </a:p>
          <a:p>
            <a:r>
              <a:rPr lang="en-CA" dirty="0"/>
              <a:t>Describe the effect of accumulating permissions through multiple group membership.</a:t>
            </a:r>
          </a:p>
          <a:p>
            <a:r>
              <a:rPr lang="en-CA" dirty="0"/>
              <a:t>Identify guidelines for sharing folders.</a:t>
            </a:r>
          </a:p>
          <a:p>
            <a:r>
              <a:rPr lang="en-CA" dirty="0"/>
              <a:t>Describe guidelines for assigning NTFS permissions.</a:t>
            </a:r>
          </a:p>
          <a:p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2864867227"/>
      </p:ext>
    </p:extLst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dirty="0">
                <a:solidFill>
                  <a:srgbClr val="3C3C3C"/>
                </a:solidFill>
                <a:latin typeface="Arial"/>
              </a:rPr>
              <a:t>Accounts &amp; Folders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sz="quarter" idx="10"/>
          </p:nvPr>
        </p:nvSpPr>
        <p:spPr>
          <a:solidFill>
            <a:srgbClr val="FFFFFF"/>
          </a:solidFill>
        </p:spPr>
        <p:txBody>
          <a:bodyPr>
            <a:normAutofit/>
          </a:bodyPr>
          <a:lstStyle/>
          <a:p>
            <a:r>
              <a:rPr lang="en-US" dirty="0">
                <a:latin typeface="Arial"/>
              </a:rPr>
              <a:t>User accounts</a:t>
            </a:r>
          </a:p>
          <a:p>
            <a:pPr lvl="1"/>
            <a:r>
              <a:rPr lang="en-CA" dirty="0"/>
              <a:t>A user account is a collection of settings and information</a:t>
            </a:r>
          </a:p>
          <a:p>
            <a:r>
              <a:rPr lang="en-US" dirty="0">
                <a:latin typeface="Arial"/>
              </a:rPr>
              <a:t>Group Account</a:t>
            </a:r>
          </a:p>
          <a:p>
            <a:pPr lvl="1"/>
            <a:r>
              <a:rPr lang="en-US" dirty="0"/>
              <a:t>Here you would create the Group security group</a:t>
            </a:r>
          </a:p>
          <a:p>
            <a:pPr marL="342900" lvl="1" indent="0">
              <a:buNone/>
            </a:pPr>
            <a:endParaRPr lang="en-US" dirty="0"/>
          </a:p>
          <a:p>
            <a:r>
              <a:rPr lang="en-US" dirty="0"/>
              <a:t>The main factor in standardization is usually a policy within the company</a:t>
            </a:r>
          </a:p>
          <a:p>
            <a:pPr lvl="1"/>
            <a:endParaRPr lang="en-US" dirty="0"/>
          </a:p>
          <a:p>
            <a:pPr lvl="1"/>
            <a:endParaRPr lang="en-US" dirty="0"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864867227"/>
      </p:ext>
    </p:extLst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dirty="0">
                <a:solidFill>
                  <a:srgbClr val="3C3C3C"/>
                </a:solidFill>
              </a:rPr>
              <a:t>Accounts &amp; Folders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sz="quarter" idx="10"/>
          </p:nvPr>
        </p:nvSpPr>
        <p:spPr>
          <a:solidFill>
            <a:srgbClr val="FFFFFF"/>
          </a:solidFill>
        </p:spPr>
        <p:txBody>
          <a:bodyPr>
            <a:normAutofit/>
          </a:bodyPr>
          <a:lstStyle/>
          <a:p>
            <a:r>
              <a:rPr lang="en-US" dirty="0">
                <a:latin typeface="Arial"/>
              </a:rPr>
              <a:t>Shared folders</a:t>
            </a:r>
          </a:p>
          <a:p>
            <a:pPr lvl="1"/>
            <a:r>
              <a:rPr lang="en-US" dirty="0">
                <a:latin typeface="Arial"/>
              </a:rPr>
              <a:t>Can reside on in many places.  Lets discuss these!</a:t>
            </a:r>
          </a:p>
          <a:p>
            <a:pPr lvl="1"/>
            <a:r>
              <a:rPr lang="en-US" dirty="0">
                <a:latin typeface="Arial"/>
              </a:rPr>
              <a:t> </a:t>
            </a:r>
          </a:p>
          <a:p>
            <a:r>
              <a:rPr lang="en-US" dirty="0">
                <a:latin typeface="Arial"/>
              </a:rPr>
              <a:t>Effects of permissions with many groups</a:t>
            </a:r>
          </a:p>
          <a:p>
            <a:pPr lvl="1"/>
            <a:endParaRPr lang="en-US" dirty="0"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864867227"/>
      </p:ext>
    </p:extLst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dirty="0">
                <a:solidFill>
                  <a:srgbClr val="3C3C3C"/>
                </a:solidFill>
              </a:rPr>
              <a:t>Accounts &amp; Folders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sz="quarter" idx="10"/>
          </p:nvPr>
        </p:nvSpPr>
        <p:spPr>
          <a:solidFill>
            <a:srgbClr val="FFFFFF"/>
          </a:solidFill>
        </p:spPr>
        <p:txBody>
          <a:bodyPr>
            <a:normAutofit/>
          </a:bodyPr>
          <a:lstStyle/>
          <a:p>
            <a:r>
              <a:rPr lang="en-US" dirty="0">
                <a:latin typeface="Arial"/>
              </a:rPr>
              <a:t>When creating shares</a:t>
            </a:r>
          </a:p>
          <a:p>
            <a:pPr lvl="1"/>
            <a:r>
              <a:rPr lang="en-US" dirty="0">
                <a:latin typeface="Arial"/>
              </a:rPr>
              <a:t>Consider organizing your AD </a:t>
            </a:r>
          </a:p>
          <a:p>
            <a:pPr lvl="1"/>
            <a:r>
              <a:rPr lang="en-US" dirty="0">
                <a:latin typeface="Arial"/>
              </a:rPr>
              <a:t>Use appropriate OU and groups</a:t>
            </a:r>
          </a:p>
          <a:p>
            <a:pPr lvl="1"/>
            <a:r>
              <a:rPr lang="en-US" dirty="0">
                <a:latin typeface="Arial"/>
              </a:rPr>
              <a:t>Give access by groups</a:t>
            </a:r>
          </a:p>
          <a:p>
            <a:pPr lvl="1"/>
            <a:r>
              <a:rPr lang="en-US" dirty="0">
                <a:latin typeface="Arial"/>
              </a:rPr>
              <a:t>Use restrictive permissions</a:t>
            </a:r>
          </a:p>
        </p:txBody>
      </p:sp>
    </p:spTree>
    <p:extLst>
      <p:ext uri="{BB962C8B-B14F-4D97-AF65-F5344CB8AC3E}">
        <p14:creationId xmlns:p14="http://schemas.microsoft.com/office/powerpoint/2010/main" val="2864867227"/>
      </p:ext>
    </p:extLst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dirty="0">
                <a:solidFill>
                  <a:srgbClr val="3C3C3C"/>
                </a:solidFill>
              </a:rPr>
              <a:t>Accounts &amp; Folders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sz="quarter" idx="10"/>
          </p:nvPr>
        </p:nvSpPr>
        <p:spPr>
          <a:solidFill>
            <a:srgbClr val="FFFFFF"/>
          </a:solidFill>
        </p:spPr>
        <p:txBody>
          <a:bodyPr>
            <a:normAutofit/>
          </a:bodyPr>
          <a:lstStyle/>
          <a:p>
            <a:r>
              <a:rPr lang="en-US" dirty="0">
                <a:latin typeface="Arial"/>
              </a:rPr>
              <a:t>NTFS permission best practice</a:t>
            </a:r>
          </a:p>
          <a:p>
            <a:pPr lvl="1"/>
            <a:r>
              <a:rPr lang="en-US" dirty="0">
                <a:latin typeface="Arial"/>
              </a:rPr>
              <a:t>Use AD </a:t>
            </a:r>
          </a:p>
          <a:p>
            <a:pPr lvl="1"/>
            <a:r>
              <a:rPr lang="en-US" dirty="0">
                <a:latin typeface="Arial"/>
              </a:rPr>
              <a:t>Use global Groups</a:t>
            </a:r>
          </a:p>
        </p:txBody>
      </p:sp>
    </p:spTree>
    <p:extLst>
      <p:ext uri="{BB962C8B-B14F-4D97-AF65-F5344CB8AC3E}">
        <p14:creationId xmlns:p14="http://schemas.microsoft.com/office/powerpoint/2010/main" val="2864867227"/>
      </p:ext>
    </p:extLst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dirty="0">
                <a:solidFill>
                  <a:srgbClr val="3C3C3C"/>
                </a:solidFill>
                <a:latin typeface="Arial"/>
              </a:rPr>
              <a:t>Accounts &amp; Folders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sz="quarter" idx="10"/>
          </p:nvPr>
        </p:nvSpPr>
        <p:spPr>
          <a:solidFill>
            <a:srgbClr val="FFFFFF"/>
          </a:solidFill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>
                <a:latin typeface="Arial"/>
              </a:rPr>
              <a:t>Lab 6</a:t>
            </a:r>
          </a:p>
        </p:txBody>
      </p:sp>
    </p:spTree>
    <p:extLst>
      <p:ext uri="{BB962C8B-B14F-4D97-AF65-F5344CB8AC3E}">
        <p14:creationId xmlns:p14="http://schemas.microsoft.com/office/powerpoint/2010/main" val="1912027525"/>
      </p:ext>
    </p:extLst>
  </p:cSld>
  <p:clrMapOvr>
    <a:masterClrMapping/>
  </p:clrMapOvr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dirty="0">
                <a:solidFill>
                  <a:srgbClr val="3C3C3C"/>
                </a:solidFill>
                <a:latin typeface="Arial"/>
              </a:rPr>
              <a:t>Module 13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sz="quarter" idx="10"/>
          </p:nvPr>
        </p:nvSpPr>
        <p:spPr>
          <a:solidFill>
            <a:srgbClr val="FFFFFF"/>
          </a:solidFill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6600" dirty="0">
                <a:latin typeface="Arial"/>
              </a:rPr>
              <a:t>	</a:t>
            </a:r>
          </a:p>
          <a:p>
            <a:pPr marL="0" indent="0" algn="ctr">
              <a:buNone/>
            </a:pPr>
            <a:r>
              <a:rPr lang="en-US" sz="6600" dirty="0">
                <a:latin typeface="Arial"/>
              </a:rPr>
              <a:t>DNS</a:t>
            </a:r>
          </a:p>
        </p:txBody>
      </p:sp>
    </p:spTree>
    <p:extLst>
      <p:ext uri="{BB962C8B-B14F-4D97-AF65-F5344CB8AC3E}">
        <p14:creationId xmlns:p14="http://schemas.microsoft.com/office/powerpoint/2010/main" val="3788014989"/>
      </p:ext>
    </p:extLst>
  </p:cSld>
  <p:clrMapOvr>
    <a:masterClrMapping/>
  </p:clrMapOvr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dirty="0">
                <a:solidFill>
                  <a:srgbClr val="3C3C3C"/>
                </a:solidFill>
                <a:latin typeface="Arial"/>
              </a:rPr>
              <a:t>Lesson Objectives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sz="quarter" idx="10"/>
          </p:nvPr>
        </p:nvSpPr>
        <p:spPr>
          <a:solidFill>
            <a:srgbClr val="FFFFFF"/>
          </a:solidFill>
        </p:spPr>
        <p:txBody>
          <a:bodyPr>
            <a:normAutofit/>
          </a:bodyPr>
          <a:lstStyle/>
          <a:p>
            <a:r>
              <a:rPr lang="en-CA" dirty="0"/>
              <a:t>Describe core records of DNS.</a:t>
            </a:r>
          </a:p>
          <a:p>
            <a:r>
              <a:rPr lang="en-CA" dirty="0"/>
              <a:t>Describe the various methods to run a service.</a:t>
            </a:r>
          </a:p>
          <a:p>
            <a:r>
              <a:rPr lang="en-CA" dirty="0"/>
              <a:t>Explain the service relationships in Windows Server</a:t>
            </a:r>
            <a:endParaRPr lang="en-US" dirty="0"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864867227"/>
      </p:ext>
    </p:extLst>
  </p:cSld>
  <p:clrMapOvr>
    <a:masterClrMapping/>
  </p:clrMapOvr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dirty="0">
                <a:solidFill>
                  <a:srgbClr val="3C3C3C"/>
                </a:solidFill>
                <a:latin typeface="Arial"/>
              </a:rPr>
              <a:t>DNS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sz="quarter" idx="10"/>
          </p:nvPr>
        </p:nvSpPr>
        <p:spPr>
          <a:solidFill>
            <a:srgbClr val="FFFFFF"/>
          </a:solidFill>
        </p:spPr>
        <p:txBody>
          <a:bodyPr>
            <a:noAutofit/>
          </a:bodyPr>
          <a:lstStyle/>
          <a:p>
            <a:r>
              <a:rPr lang="en-US" dirty="0">
                <a:latin typeface="Arial"/>
              </a:rPr>
              <a:t>DNS</a:t>
            </a:r>
          </a:p>
          <a:p>
            <a:pPr lvl="1"/>
            <a:r>
              <a:rPr lang="en-US" sz="2800" dirty="0">
                <a:latin typeface="Arial"/>
              </a:rPr>
              <a:t>Domain name service</a:t>
            </a:r>
          </a:p>
          <a:p>
            <a:pPr lvl="1"/>
            <a:endParaRPr lang="en-US" sz="2800" dirty="0">
              <a:latin typeface="Arial"/>
            </a:endParaRPr>
          </a:p>
          <a:p>
            <a:r>
              <a:rPr lang="en-US" sz="3200" dirty="0">
                <a:latin typeface="Arial"/>
              </a:rPr>
              <a:t>Lets Talk about DNS Records</a:t>
            </a:r>
          </a:p>
          <a:p>
            <a:pPr lvl="1"/>
            <a:r>
              <a:rPr lang="en-US" dirty="0">
                <a:latin typeface="Arial"/>
              </a:rPr>
              <a:t>Address Mapping Records</a:t>
            </a:r>
          </a:p>
          <a:p>
            <a:pPr lvl="1"/>
            <a:r>
              <a:rPr lang="en-US" dirty="0">
                <a:latin typeface="Arial"/>
              </a:rPr>
              <a:t>IP Records</a:t>
            </a:r>
          </a:p>
          <a:p>
            <a:pPr lvl="1"/>
            <a:r>
              <a:rPr lang="en-US" dirty="0">
                <a:latin typeface="Arial"/>
              </a:rPr>
              <a:t>Conical Name Records</a:t>
            </a:r>
          </a:p>
          <a:p>
            <a:pPr lvl="1"/>
            <a:r>
              <a:rPr lang="en-US" dirty="0">
                <a:latin typeface="Arial"/>
              </a:rPr>
              <a:t>Host Information Records</a:t>
            </a:r>
          </a:p>
          <a:p>
            <a:pPr lvl="1"/>
            <a:r>
              <a:rPr lang="en-US" dirty="0">
                <a:latin typeface="Arial"/>
              </a:rPr>
              <a:t>Integrated Service Digital Network Records</a:t>
            </a:r>
          </a:p>
          <a:p>
            <a:pPr lvl="1"/>
            <a:r>
              <a:rPr lang="en-US" dirty="0">
                <a:latin typeface="Arial"/>
              </a:rPr>
              <a:t>Mail Exchange Records</a:t>
            </a:r>
          </a:p>
          <a:p>
            <a:pPr marL="0" indent="0">
              <a:buNone/>
            </a:pPr>
            <a:endParaRPr lang="en-CA" dirty="0"/>
          </a:p>
          <a:p>
            <a:pPr lvl="1"/>
            <a:endParaRPr lang="en-US" sz="2800" dirty="0"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864867227"/>
      </p:ext>
    </p:extLst>
  </p:cSld>
  <p:clrMapOvr>
    <a:masterClrMapping/>
  </p:clrMapOvr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dirty="0">
                <a:solidFill>
                  <a:srgbClr val="3C3C3C"/>
                </a:solidFill>
              </a:rPr>
              <a:t>DNS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sz="quarter" idx="10"/>
          </p:nvPr>
        </p:nvSpPr>
        <p:spPr>
          <a:solidFill>
            <a:srgbClr val="FFFFFF"/>
          </a:solidFill>
        </p:spPr>
        <p:txBody>
          <a:bodyPr>
            <a:noAutofit/>
          </a:bodyPr>
          <a:lstStyle/>
          <a:p>
            <a:pPr lvl="1"/>
            <a:r>
              <a:rPr lang="en-US" dirty="0">
                <a:latin typeface="Arial"/>
              </a:rPr>
              <a:t>Name Server Records</a:t>
            </a:r>
          </a:p>
          <a:p>
            <a:pPr lvl="1"/>
            <a:r>
              <a:rPr lang="en-US" dirty="0">
                <a:latin typeface="Arial"/>
              </a:rPr>
              <a:t>Reverse-lookup Pointer Records</a:t>
            </a:r>
          </a:p>
          <a:p>
            <a:pPr lvl="1"/>
            <a:r>
              <a:rPr lang="en-US" dirty="0">
                <a:latin typeface="Arial"/>
              </a:rPr>
              <a:t>Start of Authority Records</a:t>
            </a:r>
          </a:p>
          <a:p>
            <a:pPr lvl="1"/>
            <a:r>
              <a:rPr lang="en-US" dirty="0">
                <a:latin typeface="Arial"/>
              </a:rPr>
              <a:t>Text Records</a:t>
            </a:r>
          </a:p>
          <a:p>
            <a:pPr marL="0" indent="0">
              <a:buNone/>
            </a:pPr>
            <a:endParaRPr lang="en-CA" dirty="0"/>
          </a:p>
          <a:p>
            <a:pPr lvl="1"/>
            <a:endParaRPr lang="en-US" sz="2800" dirty="0"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515389759"/>
      </p:ext>
    </p:extLst>
  </p:cSld>
  <p:clrMapOvr>
    <a:masterClrMapping/>
  </p:clrMapOvr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dirty="0">
                <a:solidFill>
                  <a:srgbClr val="3C3C3C"/>
                </a:solidFill>
                <a:latin typeface="Arial"/>
              </a:rPr>
              <a:t>DNS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sz="quarter" idx="10"/>
          </p:nvPr>
        </p:nvSpPr>
        <p:spPr>
          <a:solidFill>
            <a:srgbClr val="FFFFFF"/>
          </a:solidFill>
        </p:spPr>
        <p:txBody>
          <a:bodyPr>
            <a:normAutofit/>
          </a:bodyPr>
          <a:lstStyle/>
          <a:p>
            <a:r>
              <a:rPr lang="en-CA" dirty="0"/>
              <a:t>LAB7 </a:t>
            </a:r>
          </a:p>
          <a:p>
            <a:r>
              <a:rPr lang="en-CA" dirty="0">
                <a:latin typeface="Arial"/>
              </a:rPr>
              <a:t>Last Quiz</a:t>
            </a:r>
            <a:endParaRPr lang="en-US" dirty="0"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309031218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PROJECT_OPEN" val="0"/>
</p:tagLst>
</file>

<file path=ppt/theme/theme1.xml><?xml version="1.0" encoding="utf-8"?>
<a:theme xmlns:a="http://schemas.openxmlformats.org/drawingml/2006/main" name="ER Master_2015">
  <a:themeElements>
    <a:clrScheme name="Grayscale">
      <a:dk1>
        <a:sysClr val="windowText" lastClr="000000"/>
      </a:dk1>
      <a:lt1>
        <a:sysClr val="window" lastClr="FFFFFF"/>
      </a:lt1>
      <a:dk2>
        <a:srgbClr val="000000"/>
      </a:dk2>
      <a:lt2>
        <a:srgbClr val="F8F8F8"/>
      </a:lt2>
      <a:accent1>
        <a:srgbClr val="DDDDDD"/>
      </a:accent1>
      <a:accent2>
        <a:srgbClr val="B2B2B2"/>
      </a:accent2>
      <a:accent3>
        <a:srgbClr val="969696"/>
      </a:accent3>
      <a:accent4>
        <a:srgbClr val="808080"/>
      </a:accent4>
      <a:accent5>
        <a:srgbClr val="5F5F5F"/>
      </a:accent5>
      <a:accent6>
        <a:srgbClr val="4D4D4D"/>
      </a:accent6>
      <a:hlink>
        <a:srgbClr val="5F5F5F"/>
      </a:hlink>
      <a:folHlink>
        <a:srgbClr val="919191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CPNT 401 Instructor PP Lesson Guide 1</Template>
  <TotalTime>53667</TotalTime>
  <Words>2163</Words>
  <Application>Microsoft Office PowerPoint</Application>
  <PresentationFormat>On-screen Show (4:3)</PresentationFormat>
  <Paragraphs>477</Paragraphs>
  <Slides>95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95</vt:i4>
      </vt:variant>
    </vt:vector>
  </HeadingPairs>
  <TitlesOfParts>
    <vt:vector size="104" baseType="lpstr">
      <vt:lpstr>ＭＳ Ｐゴシック</vt:lpstr>
      <vt:lpstr>Arial</vt:lpstr>
      <vt:lpstr>Calibri</vt:lpstr>
      <vt:lpstr>Courier New</vt:lpstr>
      <vt:lpstr>Times New Roman</vt:lpstr>
      <vt:lpstr>Titillium Lt</vt:lpstr>
      <vt:lpstr>Verdana</vt:lpstr>
      <vt:lpstr>Wingdings</vt:lpstr>
      <vt:lpstr>ER Master_2015</vt:lpstr>
      <vt:lpstr>Network Concepts and Windows Server</vt:lpstr>
      <vt:lpstr>Introduction to Network Concepts and Windows Server </vt:lpstr>
      <vt:lpstr>Module 1</vt:lpstr>
      <vt:lpstr>Lesson Objectives</vt:lpstr>
      <vt:lpstr>Network Communication</vt:lpstr>
      <vt:lpstr>Network Communication</vt:lpstr>
      <vt:lpstr>Network Communication</vt:lpstr>
      <vt:lpstr>Network Components</vt:lpstr>
      <vt:lpstr>Network Models</vt:lpstr>
      <vt:lpstr>Benefits of Networking</vt:lpstr>
      <vt:lpstr>Network redesign</vt:lpstr>
      <vt:lpstr>Network redesign</vt:lpstr>
      <vt:lpstr>Module 2</vt:lpstr>
      <vt:lpstr>Lesson Objectives</vt:lpstr>
      <vt:lpstr>Design and Topology</vt:lpstr>
      <vt:lpstr>Physical Network Topology</vt:lpstr>
      <vt:lpstr>Physical Bus Topology</vt:lpstr>
      <vt:lpstr>Physical Star Topology</vt:lpstr>
      <vt:lpstr>Extended Star</vt:lpstr>
      <vt:lpstr>Ring Topology</vt:lpstr>
      <vt:lpstr>Hybrid/Mesh Topology </vt:lpstr>
      <vt:lpstr>Tree Topology </vt:lpstr>
      <vt:lpstr>Module 3</vt:lpstr>
      <vt:lpstr>Lesson Objectives</vt:lpstr>
      <vt:lpstr>Signaling </vt:lpstr>
      <vt:lpstr>Signals</vt:lpstr>
      <vt:lpstr>Cabling</vt:lpstr>
      <vt:lpstr>Cabling</vt:lpstr>
      <vt:lpstr>Cabling</vt:lpstr>
      <vt:lpstr>Network Standards </vt:lpstr>
      <vt:lpstr>Network Standards</vt:lpstr>
      <vt:lpstr>Network Standards</vt:lpstr>
      <vt:lpstr>Network Standards</vt:lpstr>
      <vt:lpstr>Network Standards</vt:lpstr>
      <vt:lpstr>Network Standards</vt:lpstr>
      <vt:lpstr>Network Standards</vt:lpstr>
      <vt:lpstr>Module 4</vt:lpstr>
      <vt:lpstr>Lesson 4 Objectives</vt:lpstr>
      <vt:lpstr>Network Interface </vt:lpstr>
      <vt:lpstr>Network Interface </vt:lpstr>
      <vt:lpstr>Network Interface </vt:lpstr>
      <vt:lpstr>Network Interface </vt:lpstr>
      <vt:lpstr>Network Interface </vt:lpstr>
      <vt:lpstr>Network Interface</vt:lpstr>
      <vt:lpstr>Module 5</vt:lpstr>
      <vt:lpstr>Lesson  Objectives</vt:lpstr>
      <vt:lpstr>Network Components and Communication</vt:lpstr>
      <vt:lpstr>Network Components and Communication</vt:lpstr>
      <vt:lpstr>Network Components and Communication</vt:lpstr>
      <vt:lpstr>Network Components and Communication</vt:lpstr>
      <vt:lpstr>Network Components and Communication</vt:lpstr>
      <vt:lpstr>Network Components and Communication</vt:lpstr>
      <vt:lpstr>Network Components and Communication</vt:lpstr>
      <vt:lpstr>Network Components and Communication</vt:lpstr>
      <vt:lpstr>Module 6</vt:lpstr>
      <vt:lpstr>Group Project</vt:lpstr>
      <vt:lpstr>Group Project</vt:lpstr>
      <vt:lpstr>End of Networking Concepts</vt:lpstr>
      <vt:lpstr>Module 8</vt:lpstr>
      <vt:lpstr>Lesson Objectives</vt:lpstr>
      <vt:lpstr>Windows Server</vt:lpstr>
      <vt:lpstr>Windows Server</vt:lpstr>
      <vt:lpstr>Windows Server</vt:lpstr>
      <vt:lpstr>Windows Server</vt:lpstr>
      <vt:lpstr>Windows Server</vt:lpstr>
      <vt:lpstr>Windows Server</vt:lpstr>
      <vt:lpstr>Windows Server</vt:lpstr>
      <vt:lpstr>Module 9</vt:lpstr>
      <vt:lpstr>File Server &amp; Backup</vt:lpstr>
      <vt:lpstr>File Server &amp; Backup</vt:lpstr>
      <vt:lpstr>File Server &amp; Backup</vt:lpstr>
      <vt:lpstr>File Server &amp; Backup</vt:lpstr>
      <vt:lpstr>File Server &amp; Backup</vt:lpstr>
      <vt:lpstr>File Server &amp; Backup</vt:lpstr>
      <vt:lpstr>Module 10</vt:lpstr>
      <vt:lpstr>Lesson Objectives</vt:lpstr>
      <vt:lpstr>Windows AD</vt:lpstr>
      <vt:lpstr>Windows AD</vt:lpstr>
      <vt:lpstr>Module 11</vt:lpstr>
      <vt:lpstr>Lesson Objectives</vt:lpstr>
      <vt:lpstr>Groups</vt:lpstr>
      <vt:lpstr>Groups</vt:lpstr>
      <vt:lpstr>Groups</vt:lpstr>
      <vt:lpstr>Module 12</vt:lpstr>
      <vt:lpstr>Lesson Objective</vt:lpstr>
      <vt:lpstr>Accounts &amp; Folders</vt:lpstr>
      <vt:lpstr>Accounts &amp; Folders</vt:lpstr>
      <vt:lpstr>Accounts &amp; Folders</vt:lpstr>
      <vt:lpstr>Accounts &amp; Folders</vt:lpstr>
      <vt:lpstr>Accounts &amp; Folders</vt:lpstr>
      <vt:lpstr>Module 13</vt:lpstr>
      <vt:lpstr>Lesson Objectives</vt:lpstr>
      <vt:lpstr>DNS</vt:lpstr>
      <vt:lpstr>DNS</vt:lpstr>
      <vt:lpstr>DNS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PROJ 403 - Presentation</dc:title>
  <dc:creator>Generated by OpenXML4J</dc:creator>
  <cp:lastModifiedBy>Mona Maarabouni</cp:lastModifiedBy>
  <cp:revision>213</cp:revision>
  <dcterms:created xsi:type="dcterms:W3CDTF">2016-06-08T18:28:23Z</dcterms:created>
  <dcterms:modified xsi:type="dcterms:W3CDTF">2019-10-07T14:20:56Z</dcterms:modified>
</cp:coreProperties>
</file>